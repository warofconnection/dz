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24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13"/>
    <p:sldId id="267" r:id="rId12"/>
    <p:sldId id="268" r:id="rId11"/>
    <p:sldId id="269" r:id="rId10"/>
    <p:sldId id="270" r:id="rId9"/>
    <p:sldId id="271" r:id="rId8"/>
    <p:sldId id="272" r:id="rId7"/>
    <p:sldId id="273" r:id="rId6"/>
  </p:sldIdLst>
  <p:sldSz cx="12192000" cy="6858000"/>
  <p:notesSz cx="6858000" cy="9144000"/>
  <p:embeddedFontLst>
    <p:embeddedFont>
      <p:font typeface="ALS Sector Regular" pitchFamily="2" charset="0"/>
      <p:regular r:id="rId25"/>
    </p:embeddedFon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Calibri Light" panose="020F0302020204030204" pitchFamily="34" charset="0"/>
      <p:regular r:id="rId30"/>
      <p:italic r:id="rId31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Pages" id="{FCEA663C-48B0-7640-ACFB-F74CC6B52896}">
          <p14:sldIdLst>
            <p14:sldId id="328"/>
          </p14:sldIdLst>
        </p14:section>
        <p14:section name="Main Pages" id="{2D6216EE-085B-1D4F-9148-1C95E9B04113}">
          <p14:sldIdLst>
            <p14:sldId id="310"/>
            <p14:sldId id="351"/>
            <p14:sldId id="350"/>
            <p14:sldId id="313"/>
            <p14:sldId id="347"/>
            <p14:sldId id="357"/>
            <p14:sldId id="352"/>
            <p14:sldId id="314"/>
            <p14:sldId id="345"/>
            <p14:sldId id="353"/>
            <p14:sldId id="355"/>
            <p14:sldId id="356"/>
            <p14:sldId id="354"/>
            <p14:sldId id="312"/>
            <p14:sldId id="315"/>
            <p14:sldId id="311"/>
            <p14:sldId id="348"/>
            <p14:sldId id="358"/>
            <p14:sldId id="349"/>
            <p14:sldId id="359"/>
          </p14:sldIdLst>
        </p14:section>
        <p14:section name="End Pages" id="{3602EDAD-CAB5-8D49-BB7B-9D76B042243D}">
          <p14:sldIdLst>
            <p14:sldId id="34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E6FF"/>
    <a:srgbClr val="176DEA"/>
    <a:srgbClr val="000000"/>
    <a:srgbClr val="232323"/>
    <a:srgbClr val="434343"/>
    <a:srgbClr val="FFFFFF"/>
    <a:srgbClr val="D4E5FE"/>
    <a:srgbClr val="F8F8F8"/>
    <a:srgbClr val="EAEAEA"/>
    <a:srgbClr val="F836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44"/>
    <p:restoredTop sz="96296"/>
  </p:normalViewPr>
  <p:slideViewPr>
    <p:cSldViewPr snapToGrid="0" snapToObjects="1">
      <p:cViewPr varScale="1">
        <p:scale>
          <a:sx n="95" d="100"/>
          <a:sy n="95" d="100"/>
        </p:scale>
        <p:origin x="192" y="384"/>
      </p:cViewPr>
      <p:guideLst/>
    </p:cSldViewPr>
  </p:slideViewPr>
  <p:notesTextViewPr>
    <p:cViewPr>
      <p:scale>
        <a:sx n="155" d="100"/>
        <a:sy n="15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8.xml"/><Relationship Id="rId7" Type="http://schemas.openxmlformats.org/officeDocument/2006/relationships/slide" Target="slides/slide17.xml"/><Relationship Id="rId8" Type="http://schemas.openxmlformats.org/officeDocument/2006/relationships/slide" Target="slides/slide16.xml"/><Relationship Id="rId9" Type="http://schemas.openxmlformats.org/officeDocument/2006/relationships/slide" Target="slides/slide15.xml"/><Relationship Id="rId10" Type="http://schemas.openxmlformats.org/officeDocument/2006/relationships/slide" Target="slides/slide14.xml"/><Relationship Id="rId11" Type="http://schemas.openxmlformats.org/officeDocument/2006/relationships/slide" Target="slides/slide13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25" Type="http://schemas.openxmlformats.org/officeDocument/2006/relationships/font" Target="fonts/font1.fntdata"/><Relationship Id="rId26" Type="http://schemas.openxmlformats.org/officeDocument/2006/relationships/font" Target="fonts/font2.fntdata"/><Relationship Id="rId27" Type="http://schemas.openxmlformats.org/officeDocument/2006/relationships/font" Target="fonts/font3.fntdata"/><Relationship Id="rId28" Type="http://schemas.openxmlformats.org/officeDocument/2006/relationships/font" Target="fonts/font4.fntdata"/><Relationship Id="rId29" Type="http://schemas.openxmlformats.org/officeDocument/2006/relationships/font" Target="fonts/font5.fntdata"/><Relationship Id="rId30" Type="http://schemas.openxmlformats.org/officeDocument/2006/relationships/font" Target="fonts/font6.fntdata"/><Relationship Id="rId31" Type="http://schemas.openxmlformats.org/officeDocument/2006/relationships/font" Target="fonts/font7.fntdata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DB1DD2-73B1-F14C-85CF-6D78FFDE7F84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E6FB5-F890-304F-A36B-54AA81FB8B0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3928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79BA0-411E-A65B-876A-7611F71E3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7E0D2E3-37C1-D763-45E1-5611DCB124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BA40A64-28A0-00A1-D917-2A896022B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1DA8E28-A781-8F75-66B2-59F3125B8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558D9E-7590-D7A8-4C58-D3A2D81C1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6825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ED183-9AEB-04E1-1030-33EF54C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E7279B3-8393-6458-8BB7-7ADA4E5B6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C40523-4510-EF74-45EE-D22BB79A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CB625F-5079-C90D-D8DF-CB7B60491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AA83B6-A404-5936-CC80-EC9668C5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76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C1A509-87DC-767E-1832-C7CC363AA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1884C6-3013-2458-0D68-A790216584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003E16-5D83-7B39-5E7A-9F01AC18D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7CCE9B-95D8-9316-C686-67A20911F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C337C9-1926-3AED-110C-23634C246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25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82984E-EC5B-9060-A2BD-594795B09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929E23-65B3-BB1A-8057-C43A937AF8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BCA964-7517-C44F-4089-D73C8C9A4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D9D7B3-96A9-1F31-FFD0-CED4EDBF8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248DED3-81A7-C95A-C099-288A4C2E9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BEE3D20-8724-FA65-EF34-BC2B1AD60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781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D5074E-293E-3A76-CAC2-6C5894148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C44E037-C4FA-D65F-DD15-3EB27E8E36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1D5DBB3-1C4A-34AF-0037-C7D147D16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1D213FB-DBAC-11C6-C232-49F21D795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A6A2461-D4A7-7991-4932-4BC08454C0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503503A-4F0A-0B84-8B95-C5532231A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72E2AA5-B04B-511D-3F64-47B0E937A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3BCC1A9-C078-D857-B6FC-D2BE7A492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8163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4877D4-61ED-5225-4B61-2CBCB01D3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D96CAC9-68A8-6AA1-1060-7FB102AFC4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B4FA76-A58E-6266-E50F-6EE6783FD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54F895F-D327-014B-C3DF-00E769390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3420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5F5DA4-954D-7489-7260-247E22617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8D1EA36-18D0-FCE9-0CEB-63DC27AEE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138B87-3BE8-E11A-4CA5-32AB35B12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9787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72561-52A2-5966-54B8-EEDDAEB38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20A797C-423C-AC6B-D4D5-A9A8E00A2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2BE570D-2BFC-B862-DCD3-1F1B707F33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8C0C96-5EA3-6E15-1B27-D0789018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18A6578-8C97-AD3E-6C9F-9C52222A9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18E633-B5FC-2FB9-CCBB-E727CBD45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56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DECCB-440D-BA77-A255-47BA24D55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1D359C9-E73A-60DA-395D-0BA533E81B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7F5D950-A285-52A7-3A70-B9D48FD5F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E07823-E262-66FD-5E7C-73C230125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C19CEFE-2C72-7E64-ED66-D17D5B33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D100F73-52A0-70AA-D241-932B26639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846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2BACE5-BB05-C3A5-DD41-1733373E7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ADC787-2CB8-7D05-7248-858F71956C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3BAE0B-13F0-64F1-931E-30D572758F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9F82812-101B-7090-50AB-7588FBD06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966155-AA2C-8FF1-D604-9C0D5E236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180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FB54F11-0A84-1BDD-F8B1-4A6AB340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0E85FF9-1A4D-2103-8E70-27524A4F1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F23D07-ACD4-B405-AC0F-BCC390067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CD1D5B-DEBA-3AA4-215A-3DDE74190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AA6B24-E5D5-0134-836C-502AE8CBBB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63E1C1-A028-4D4E-A8C8-9214D2A1B6C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3891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B47216-A557-C48B-4C71-1A240DCE6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322E18-8D58-0C66-D787-DB415C990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DDE747-9118-13EB-934F-B918F17AD3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AE4A8F-D894-394B-8106-7DD72FD6EB1F}" type="datetimeFigureOut">
              <a:rPr lang="ru-RU" smtClean="0"/>
              <a:t>13.02.2023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9205960-BE43-11EA-5C91-829BA1B3E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9CC4A4-F428-D59F-9C65-A877CAF52A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1440" y="3246437"/>
            <a:ext cx="4785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LS Sector Regular" pitchFamily="2" charset="0"/>
                <a:cs typeface="ALS Sector Regular" pitchFamily="2" charset="0"/>
              </a:defRPr>
            </a:lvl1pPr>
          </a:lstStyle>
          <a:p>
            <a:fld id="{1363E1C1-A028-4D4E-A8C8-9214D2A1B6C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4314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1508760"/>
            <a:ext cx="11210544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4000">
                <a:solidFill>
                  <a:srgbClr val="FFFFFF"/>
                </a:solidFill>
                <a:latin typeface="ALS Sector Regular"/>
              </a:defRPr>
            </a:pPr>
            <a:r>
              <a:t>1. Предварительное проектирование сети поликлиники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6344" y="374904"/>
            <a:ext cx="11210544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FFFFFF"/>
                </a:solidFill>
                <a:latin typeface="ALS Sector Regular"/>
              </a:defRPr>
            </a:pPr>
            <a:r>
              <a:t>Московский государственный технический университет им. Н. Э. Баумана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3346704"/>
            <a:ext cx="109270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МГТУ им. Н. Э. Баумана · факультет ИУ · кафедра ИУ-10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Дисциплина: «Информационно-телекоммуникационные системы»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Домашнее задание № 1 · Вариант 8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Выполнил: Устинов Илья Максимович · Группа: ИУ10-59</a:t>
            </a:r>
          </a:p>
          <a:p>
            <a:pPr>
              <a:spcAft>
                <a:spcPts val="1100"/>
              </a:spcAft>
              <a:defRPr b="0" sz="1850">
                <a:solidFill>
                  <a:srgbClr val="FFFFFF"/>
                </a:solidFill>
                <a:latin typeface="ALS Sector Regular"/>
              </a:defRPr>
            </a:pPr>
            <a:r>
              <a:t>Проверила: Федорова В. А. · Москва,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" y="6153912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800">
                <a:solidFill>
                  <a:srgbClr val="AECDFF"/>
                </a:solidFill>
                <a:latin typeface="ALS Sector Regular"/>
              </a:defRPr>
            </a:pPr>
            <a: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2. Постановка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Спроектировать ЛВС городской поликлиники: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центральный корпус и два филиала в разных районах города.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Обеспечить МИС, обмен исследованиями, почту, Интернет, печать и беспроводной доступ.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Результаты: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проект, расчёты DOCX, планы этажей и логическая модель Cisco Packet Tracer.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Межэтажные и межкорпусные связи — через маршрутизаторы.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3. Здания и размещение на местности</a:t>
            </a:r>
          </a:p>
        </p:txBody>
      </p:sp>
      <p:pic>
        <p:nvPicPr>
          <p:cNvPr id="3" name="Picture 2" descr="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54" y="1499616"/>
            <a:ext cx="10433785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4. Организационная структура и взаимодействие</a:t>
            </a:r>
          </a:p>
        </p:txBody>
      </p:sp>
      <p:pic>
        <p:nvPicPr>
          <p:cNvPr id="3" name="Picture 2" descr="o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488" y="1499616"/>
            <a:ext cx="8868717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5. Прикладные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Регистратура: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запись на приём и управление расписанием.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Врачи и сестринская служба: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электронные карты, назначения, результаты.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исследования DICOM, передача в архив PACS.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Администрация: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отчётность; ИТ: обслуживание и резервное копирование.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Все площадки: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почта, Интернет, печать; посетители: изолированный Wi-Fi.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6. Программное обеспечение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Windows 11 Pro / совместимая Linux, браузер, офисный пакет, почта, защита рабочих станций.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Диагностика: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DICOM-просмотрщик.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3 сервера: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МИС и PostgreSQL; DNS и почта; файлы, PACS и резервное копирование.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9867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4096512"/>
            <a:ext cx="4965192" cy="22585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ПО определяет требования к сети. Модель ДЗ1 содержит оборудование и линии связи без настройки служб.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7. Максимальная нагрузка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Часы наибольшей нагрузки: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08:00–11:00 и 16:00–18:00.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C = 1,25 × 1,20 × ΣR; 25% служебный запас, 20% рост.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C1: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180,6; C2: 132,6; каждый филиал: 92,7 Мбит/с.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Серверные потоки: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375,6 Мбит/с; стык C1–EDGE: 351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Интернет: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123 Мбит/с → канал 200 Мбит/с.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Подробные исходные значения и расчёты: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«Расчёты_вариант_8.docx».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8. Стандарт, кабель и топология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Иерархическая звезда с отдельными этажными сегментами.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Рабочие подключения: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1000BASE-T, Cat6 U/UTP LSZH.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магистраль: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1000BASE-SX, OM3, 15 м к закупке.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Удалённые филиалы: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операторские Ethernet-каналы по 100 Мбит/с.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 этажах — коммутаторы; между этажами и зданиями — маршрутизаторы.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Учебный 2960: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100 Мбит/с к ПК, 1 Гбит/с на магистрали.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9. Количество и характеристики оборудования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84 ПК: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16 ГБ, SSD 512 ГБ, 1GbE. 3 сервера: 64 ГБ ECC, зеркальные SSD.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5 маршрутизаторов: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 этажных и 1 пограничный.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6 коммутаторов по 24 порта: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144 порта, 99 подключений.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4 точки Wi-Fi; 8 сетевых МФУ; 4 стойки; 7 ИБП.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Модели: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MikroTik RB5009UG+S+IN, CRS328-24P-4S+RM, cAP ax.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Характеристики и стоимость по каждой позиции приведены в расчётном приложении.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1</a:t>
            </a:r>
          </a:p>
        </p:txBody>
      </p:sp>
      <p:pic>
        <p:nvPicPr>
          <p:cNvPr id="3" name="Picture 2" descr="floor-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Центральный корпус — этаж 2</a:t>
            </a:r>
          </a:p>
        </p:txBody>
      </p:sp>
      <p:pic>
        <p:nvPicPr>
          <p:cNvPr id="3" name="Picture 2" descr="floor-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1 — этаж 1</a:t>
            </a:r>
          </a:p>
        </p:txBody>
      </p:sp>
      <p:pic>
        <p:nvPicPr>
          <p:cNvPr id="3" name="Picture 2" descr="floor-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10. Структурная схема: Филиал 2 — этаж 1</a:t>
            </a:r>
          </a:p>
        </p:txBody>
      </p:sp>
      <p:pic>
        <p:nvPicPr>
          <p:cNvPr id="3" name="Picture 2" descr="floor-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05" y="1499616"/>
            <a:ext cx="8481484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11. Расчёт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Индивидуальные трассы вычислены по координатам планов, через коридорный лоток.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96 постоянных линий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2904.8 м; с 20% запасом: 3485.8 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Закупка: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бухт × 305 м = 3660 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Межэтажная оптика: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12 м трасса → 15 м с запасом.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Максимальная линия Cat6: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48.8 м; ограничения 90/100 м соблюдены.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Подробная ведомость: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 и cable-routes.csv.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12. Смета оборудования и кабеля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000">
                <a:solidFill>
                  <a:srgbClr val="434343"/>
                </a:solidFill>
                <a:latin typeface="ALS Sector Regular"/>
              </a:defRPr>
            </a:pPr>
            <a:r>
              <a:t>Оценка капитальных затрат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112264"/>
            <a:ext cx="4965192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3200">
                <a:solidFill>
                  <a:srgbClr val="176DEA"/>
                </a:solidFill>
                <a:latin typeface="ALS Sector Regular"/>
              </a:defRPr>
            </a:pPr>
            <a:r>
              <a:t>7 907 116 ₽.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Полная таблица количества, единичных цен и стоимости: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DOCX.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Сетевое оборудование: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каталоговые цены. Остальные позиции: предварительная оценка.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Не включены монтаж, лицензии, оплата каналов оператора и отдельное резервное хранилище.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Полная смета с количеством и ценой каждой позиции приведена в DOCX.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Схема связей и функциональных групп</a:t>
            </a:r>
          </a:p>
        </p:txBody>
      </p:sp>
      <p:pic>
        <p:nvPicPr>
          <p:cNvPr id="3" name="Picture 2" descr="logical-dra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899" y="1499616"/>
            <a:ext cx="8109896" cy="4956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13. Модель Cisco Packet Tracer L1–L2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Файл: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clinic8-L1-L2.pkt.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Сохранены устройства, расположение и кабельные соединения.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84 ПК, 8 МФУ, 4 AP и 3 сервера поликлиники.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Дополнительно показаны сеть оператора и 4 гостевых планшета.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Настройки адресации, маршрутизации и сетевых служб отсутствуют.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Модель предназначена для представления структуры, размещения и соединений оборудования.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6344" y="521207"/>
            <a:ext cx="11210544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2600">
                <a:solidFill>
                  <a:srgbClr val="434343"/>
                </a:solidFill>
                <a:latin typeface="ALS Sector Regular"/>
              </a:defRPr>
            </a:pPr>
            <a:r>
              <a:t>14.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8" y="1481328"/>
            <a:ext cx="10972" cy="47914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Разработан проект трёх площадок: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112 сотрудников, 84 рабочих станции.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37376" y="15819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Концепция: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единый диагностический архив и общая медицинская история.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Рассчитаны нагрузки, кабельные трассы и резерв расширения.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37376" y="31485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32583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Выбраны гигабитные подключения, межэтажная оптика и каналы филиалов.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t>Составлена физическая модель без настройки сетевых служб.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37376" y="4824984"/>
            <a:ext cx="4965192" cy="10972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4934712"/>
            <a:ext cx="4965192" cy="1420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900">
                <a:solidFill>
                  <a:srgbClr val="434343"/>
                </a:solidFill>
                <a:latin typeface="ALS Sector Regular"/>
              </a:defRPr>
            </a:pPr>
            <a:r>
              <a:rPr sz="1900">
                <a:solidFill>
                  <a:srgbClr val="176DEA"/>
                </a:solidFill>
                <a:latin typeface="ALS Sector Regular"/>
              </a:rPr>
              <a:t>Стоимость оборудования и кабельных материалов:</a:t>
            </a:r>
            <a:r>
              <a:rPr sz="1900">
                <a:solidFill>
                  <a:srgbClr val="434343"/>
                </a:solidFill>
                <a:latin typeface="ALS Sector Regular"/>
              </a:rPr>
              <a:t> 7 907 116 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6565392"/>
            <a:ext cx="9144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900">
                <a:solidFill>
                  <a:srgbClr val="A1A1A3"/>
                </a:solidFill>
                <a:latin typeface="ALS Sector Regular"/>
              </a:defRPr>
            </a:pPr>
            <a:r>
              <a:t>ИТС · ДЗ № 1 · Городская поликлиника · Вариант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19688" y="6510528"/>
            <a:ext cx="4114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0" sz="1200">
                <a:solidFill>
                  <a:srgbClr val="176DEA"/>
                </a:solidFill>
                <a:latin typeface="ALS Sector Regula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22571</TotalTime>
  <Words>788</Words>
  <Application>Microsoft Macintosh PowerPoint</Application>
  <PresentationFormat>Широкоэкранный</PresentationFormat>
  <Paragraphs>300</Paragraphs>
  <Slides>22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8" baseType="lpstr">
      <vt:lpstr>ALS Sector Regular</vt:lpstr>
      <vt:lpstr>Calibri Light</vt:lpstr>
      <vt:lpstr>Arial</vt:lpstr>
      <vt:lpstr>System Font Regular</vt:lpstr>
      <vt:lpstr>Calibri</vt:lpstr>
      <vt:lpstr>Тема Office</vt:lpstr>
      <vt:lpstr>Презентация PowerPoint</vt:lpstr>
      <vt:lpstr>Заголовок слайда</vt:lpstr>
      <vt:lpstr>Пример слайда</vt:lpstr>
      <vt:lpstr>Заголовок слайда</vt:lpstr>
      <vt:lpstr>Заголовок слайда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МГТУ им. Н.Э. Баумана</dc:title>
  <dc:subject/>
  <dc:creator>Katya Selivanova</dc:creator>
  <cp:keywords/>
  <dc:description/>
  <cp:lastModifiedBy>18</cp:lastModifiedBy>
  <cp:revision>52</cp:revision>
  <dcterms:created xsi:type="dcterms:W3CDTF">2022-04-18T20:35:07Z</dcterms:created>
  <dcterms:modified xsi:type="dcterms:W3CDTF">2023-02-13T09:56:56Z</dcterms:modified>
  <cp:category/>
</cp:coreProperties>
</file>