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72C47"/>
                </a:solidFill>
              </a:defRPr>
            </a:pPr>
            <a:r>
              <a:t>1. Предварительное проектирование сети поликлиники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2344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300">
                <a:solidFill>
                  <a:srgbClr val="172C47"/>
                </a:solidFill>
              </a:defRPr>
            </a:pPr>
            <a:r>
              <a:t>МГТУ им. Н. Э. Баумана · факультет ИУ · кафедра ИУ-10</a:t>
            </a:r>
          </a:p>
          <a:p>
            <a:pPr>
              <a:spcAft>
                <a:spcPts val="1500"/>
              </a:spcAft>
              <a:defRPr sz="2300">
                <a:solidFill>
                  <a:srgbClr val="172C47"/>
                </a:solidFill>
              </a:defRPr>
            </a:pPr>
            <a:r>
              <a:t>Дисциплина: «Информационно-телекоммуникационные системы»</a:t>
            </a:r>
          </a:p>
          <a:p>
            <a:pPr>
              <a:spcAft>
                <a:spcPts val="1500"/>
              </a:spcAft>
              <a:defRPr sz="2300">
                <a:solidFill>
                  <a:srgbClr val="172C47"/>
                </a:solidFill>
              </a:defRPr>
            </a:pPr>
            <a:r>
              <a:t>Домашнее задание № 1 · Вариант 8</a:t>
            </a:r>
          </a:p>
          <a:p>
            <a:pPr>
              <a:spcAft>
                <a:spcPts val="1500"/>
              </a:spcAft>
              <a:defRPr sz="2300">
                <a:solidFill>
                  <a:srgbClr val="172C47"/>
                </a:solidFill>
              </a:defRPr>
            </a:pPr>
            <a:r>
              <a:t>Выполнил: Устинов Илья Максимович · Группа: ИУ10-59</a:t>
            </a:r>
          </a:p>
          <a:p>
            <a:pPr>
              <a:spcAft>
                <a:spcPts val="1500"/>
              </a:spcAft>
              <a:defRPr sz="2300">
                <a:solidFill>
                  <a:srgbClr val="172C47"/>
                </a:solidFill>
              </a:defRPr>
            </a:pPr>
            <a:r>
              <a:t>Проверила: Федорова В. А. · Москва,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55664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ИТС · ДЗ № 1 · Вариант 8 · Проектный черновик |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72C47"/>
                </a:solidFill>
              </a:defRPr>
            </a:pPr>
            <a:r>
              <a:t>2. Постановка задачи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2344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300">
                <a:solidFill>
                  <a:srgbClr val="172C47"/>
                </a:solidFill>
              </a:defRPr>
            </a:pPr>
            <a:r>
              <a:t>Спроектировать ЛВС городской поликлиники: центральный корпус и два филиала в разных районах города.</a:t>
            </a:r>
          </a:p>
          <a:p>
            <a:pPr>
              <a:spcAft>
                <a:spcPts val="1500"/>
              </a:spcAft>
              <a:defRPr sz="2300">
                <a:solidFill>
                  <a:srgbClr val="172C47"/>
                </a:solidFill>
              </a:defRPr>
            </a:pPr>
            <a:r>
              <a:t>Обеспечить МИС, обмен исследованиями, почту, Интернет, печать и беспроводной доступ.</a:t>
            </a:r>
          </a:p>
          <a:p>
            <a:pPr>
              <a:spcAft>
                <a:spcPts val="1500"/>
              </a:spcAft>
              <a:defRPr sz="2300">
                <a:solidFill>
                  <a:srgbClr val="172C47"/>
                </a:solidFill>
              </a:defRPr>
            </a:pPr>
            <a:r>
              <a:t>Результаты: проект, расчёты DOCX, планы этажей и логическая модель Cisco Packet Tracer.</a:t>
            </a:r>
          </a:p>
          <a:p>
            <a:pPr>
              <a:spcAft>
                <a:spcPts val="1500"/>
              </a:spcAft>
              <a:defRPr sz="2300">
                <a:solidFill>
                  <a:srgbClr val="172C47"/>
                </a:solidFill>
              </a:defRPr>
            </a:pPr>
            <a:r>
              <a:t>Межэтажные и межкорпусные связи — через маршрутизаторы.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55664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ИТС · ДЗ № 1 · Вариант 8 · Проектный черновик |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72C47"/>
                </a:solidFill>
              </a:defRPr>
            </a:pPr>
            <a:r>
              <a:t>3. Здания и размещение на местности</a:t>
            </a:r>
          </a:p>
        </p:txBody>
      </p:sp>
      <p:pic>
        <p:nvPicPr>
          <p:cNvPr id="3" name="Picture 2" descr="s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700" y="1051560"/>
            <a:ext cx="10780294" cy="5120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6455664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ИТС · ДЗ № 1 · Вариант 8 · Проектный черновик |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72C47"/>
                </a:solidFill>
              </a:defRPr>
            </a:pPr>
            <a:r>
              <a:t>4. Организационная структура и взаимодействие</a:t>
            </a:r>
          </a:p>
        </p:txBody>
      </p:sp>
      <p:pic>
        <p:nvPicPr>
          <p:cNvPr id="3" name="Picture 2" descr="or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4222" y="1051560"/>
            <a:ext cx="9163250" cy="5120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6455664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ИТС · ДЗ № 1 · Вариант 8 · Проектный черновик |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72C47"/>
                </a:solidFill>
              </a:defRPr>
            </a:pPr>
            <a:r>
              <a:t>5. Прикладные задачи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2344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300">
                <a:solidFill>
                  <a:srgbClr val="172C47"/>
                </a:solidFill>
              </a:defRPr>
            </a:pPr>
            <a:r>
              <a:t>Регистратура: запись на приём и управление расписанием.</a:t>
            </a:r>
          </a:p>
          <a:p>
            <a:pPr>
              <a:spcAft>
                <a:spcPts val="1500"/>
              </a:spcAft>
              <a:defRPr sz="2300">
                <a:solidFill>
                  <a:srgbClr val="172C47"/>
                </a:solidFill>
              </a:defRPr>
            </a:pPr>
            <a:r>
              <a:t>Врачи и сестринская служба: электронные карты, назначения, результаты.</a:t>
            </a:r>
          </a:p>
          <a:p>
            <a:pPr>
              <a:spcAft>
                <a:spcPts val="1500"/>
              </a:spcAft>
              <a:defRPr sz="2300">
                <a:solidFill>
                  <a:srgbClr val="172C47"/>
                </a:solidFill>
              </a:defRPr>
            </a:pPr>
            <a:r>
              <a:t>Диагностика: исследования DICOM, передача в архив PACS.</a:t>
            </a:r>
          </a:p>
          <a:p>
            <a:pPr>
              <a:spcAft>
                <a:spcPts val="1500"/>
              </a:spcAft>
              <a:defRPr sz="2300">
                <a:solidFill>
                  <a:srgbClr val="172C47"/>
                </a:solidFill>
              </a:defRPr>
            </a:pPr>
            <a:r>
              <a:t>Администрация: отчётность; ИТ: обслуживание и резервное копирование.</a:t>
            </a:r>
          </a:p>
          <a:p>
            <a:pPr>
              <a:spcAft>
                <a:spcPts val="1500"/>
              </a:spcAft>
              <a:defRPr sz="2300">
                <a:solidFill>
                  <a:srgbClr val="172C47"/>
                </a:solidFill>
              </a:defRPr>
            </a:pPr>
            <a:r>
              <a:t>Все площадки: почта, Интернет, печать; посетители: изолированный Wi-Fi.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55664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ИТС · ДЗ № 1 · Вариант 8 · Проектный черновик |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72C47"/>
                </a:solidFill>
              </a:defRPr>
            </a:pPr>
            <a:r>
              <a:t>6. Программное обеспечение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2344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300">
                <a:solidFill>
                  <a:srgbClr val="172C47"/>
                </a:solidFill>
              </a:defRPr>
            </a:pPr>
            <a:r>
              <a:t>84 ПК: Windows 11 Pro / совместимая Linux, браузер, офисный пакет, почта, защита рабочих станций.</a:t>
            </a:r>
          </a:p>
          <a:p>
            <a:pPr>
              <a:spcAft>
                <a:spcPts val="1500"/>
              </a:spcAft>
              <a:defRPr sz="2300">
                <a:solidFill>
                  <a:srgbClr val="172C47"/>
                </a:solidFill>
              </a:defRPr>
            </a:pPr>
            <a:r>
              <a:t>Диагностика: DICOM-просмотрщик.</a:t>
            </a:r>
          </a:p>
          <a:p>
            <a:pPr>
              <a:spcAft>
                <a:spcPts val="1500"/>
              </a:spcAft>
              <a:defRPr sz="2300">
                <a:solidFill>
                  <a:srgbClr val="172C47"/>
                </a:solidFill>
              </a:defRPr>
            </a:pPr>
            <a:r>
              <a:t>3 сервера: МИС и PostgreSQL; DNS и почта; файлы, PACS и резервное копирование.</a:t>
            </a:r>
          </a:p>
          <a:p>
            <a:pPr>
              <a:spcAft>
                <a:spcPts val="1500"/>
              </a:spcAft>
              <a:defRPr sz="2300">
                <a:solidFill>
                  <a:srgbClr val="172C47"/>
                </a:solidFill>
              </a:defRPr>
            </a:pPr>
            <a:r>
              <a:t>В Packet Tracer: только учебная имитация HTTP, DNS и EMAIL; МИС/PACS не развёртываются.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55664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ИТС · ДЗ № 1 · Вариант 8 · Проектный черновик |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72C47"/>
                </a:solidFill>
              </a:defRPr>
            </a:pPr>
            <a:r>
              <a:t>7. Максимальная нагрузка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2344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300">
                <a:solidFill>
                  <a:srgbClr val="172C47"/>
                </a:solidFill>
              </a:defRPr>
            </a:pPr>
            <a:r>
              <a:t>Часы наибольшей нагрузки: 08:00–11:00 и 16:00–18:00.</a:t>
            </a:r>
          </a:p>
          <a:p>
            <a:pPr>
              <a:spcAft>
                <a:spcPts val="1500"/>
              </a:spcAft>
              <a:defRPr sz="2300">
                <a:solidFill>
                  <a:srgbClr val="172C47"/>
                </a:solidFill>
              </a:defRPr>
            </a:pPr>
            <a:r>
              <a:t>C = 1,25 × 1,20 × ΣR; 25% служебный запас, 20% рост.</a:t>
            </a:r>
          </a:p>
          <a:p>
            <a:pPr>
              <a:spcAft>
                <a:spcPts val="1500"/>
              </a:spcAft>
              <a:defRPr sz="2300">
                <a:solidFill>
                  <a:srgbClr val="172C47"/>
                </a:solidFill>
              </a:defRPr>
            </a:pPr>
            <a:r>
              <a:t>C1: 180,6; C2: 132,6; каждый филиал: 92,7 Мбит/с.</a:t>
            </a:r>
          </a:p>
          <a:p>
            <a:pPr>
              <a:spcAft>
                <a:spcPts val="1500"/>
              </a:spcAft>
              <a:defRPr sz="2300">
                <a:solidFill>
                  <a:srgbClr val="172C47"/>
                </a:solidFill>
              </a:defRPr>
            </a:pPr>
            <a:r>
              <a:t>Серверные потоки: 375,6 Мбит/с; стык C1–EDGE: 351 Мбит/с.</a:t>
            </a:r>
          </a:p>
          <a:p>
            <a:pPr>
              <a:spcAft>
                <a:spcPts val="1500"/>
              </a:spcAft>
              <a:defRPr sz="2300">
                <a:solidFill>
                  <a:srgbClr val="172C47"/>
                </a:solidFill>
              </a:defRPr>
            </a:pPr>
            <a:r>
              <a:t>Интернет: 123 Мбит/с → канал 200 Мбит/с.</a:t>
            </a:r>
          </a:p>
          <a:p>
            <a:pPr>
              <a:spcAft>
                <a:spcPts val="1500"/>
              </a:spcAft>
              <a:defRPr sz="2300">
                <a:solidFill>
                  <a:srgbClr val="172C47"/>
                </a:solidFill>
              </a:defRPr>
            </a:pPr>
            <a:r>
              <a:t>Подробные исходные значения и расчёты: «Расчёты_вариант_8.docx».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55664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ИТС · ДЗ № 1 · Вариант 8 · Проектный черновик |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72C47"/>
                </a:solidFill>
              </a:defRPr>
            </a:pPr>
            <a:r>
              <a:t>8. Стандарт, кабель и топология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2344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300">
                <a:solidFill>
                  <a:srgbClr val="172C47"/>
                </a:solidFill>
              </a:defRPr>
            </a:pPr>
            <a:r>
              <a:t>Иерархическая звезда с отдельными этажными сегментами.</a:t>
            </a:r>
          </a:p>
          <a:p>
            <a:pPr>
              <a:spcAft>
                <a:spcPts val="1500"/>
              </a:spcAft>
              <a:defRPr sz="2300">
                <a:solidFill>
                  <a:srgbClr val="172C47"/>
                </a:solidFill>
              </a:defRPr>
            </a:pPr>
            <a:r>
              <a:t>Рабочие подключения: 1000BASE-T, Cat6 U/UTP LSZH.</a:t>
            </a:r>
          </a:p>
          <a:p>
            <a:pPr>
              <a:spcAft>
                <a:spcPts val="1500"/>
              </a:spcAft>
              <a:defRPr sz="2300">
                <a:solidFill>
                  <a:srgbClr val="172C47"/>
                </a:solidFill>
              </a:defRPr>
            </a:pPr>
            <a:r>
              <a:t>Межэтажная магистраль: 1000BASE-SX, OM3, 15 м к закупке.</a:t>
            </a:r>
          </a:p>
          <a:p>
            <a:pPr>
              <a:spcAft>
                <a:spcPts val="1500"/>
              </a:spcAft>
              <a:defRPr sz="2300">
                <a:solidFill>
                  <a:srgbClr val="172C47"/>
                </a:solidFill>
              </a:defRPr>
            </a:pPr>
            <a:r>
              <a:t>Удалённые филиалы: операторские Ethernet-каналы по 100 Мбит/с.</a:t>
            </a:r>
          </a:p>
          <a:p>
            <a:pPr>
              <a:spcAft>
                <a:spcPts val="1500"/>
              </a:spcAft>
              <a:defRPr sz="2300">
                <a:solidFill>
                  <a:srgbClr val="172C47"/>
                </a:solidFill>
              </a:defRPr>
            </a:pPr>
            <a:r>
              <a:t>На этажах — коммутаторы; между этажами и зданиями — маршрутизаторы.</a:t>
            </a:r>
          </a:p>
          <a:p>
            <a:pPr>
              <a:spcAft>
                <a:spcPts val="1500"/>
              </a:spcAft>
              <a:defRPr sz="2300">
                <a:solidFill>
                  <a:srgbClr val="172C47"/>
                </a:solidFill>
              </a:defRPr>
            </a:pPr>
            <a:r>
              <a:t>Учебный 2960: 100 Мбит/с к ПК, 1 Гбит/с на магистрали.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55664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ИТС · ДЗ № 1 · Вариант 8 · Проектный черновик |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72C47"/>
                </a:solidFill>
              </a:defRPr>
            </a:pPr>
            <a:r>
              <a:t>9. Количество и характеристики оборудования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2344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300">
                <a:solidFill>
                  <a:srgbClr val="172C47"/>
                </a:solidFill>
              </a:defRPr>
            </a:pPr>
            <a:r>
              <a:t>84 ПК: 16 ГБ, SSD 512 ГБ, 1GbE. 3 сервера: 64 ГБ ECC, зеркальные SSD.</a:t>
            </a:r>
          </a:p>
          <a:p>
            <a:pPr>
              <a:spcAft>
                <a:spcPts val="1500"/>
              </a:spcAft>
              <a:defRPr sz="2300">
                <a:solidFill>
                  <a:srgbClr val="172C47"/>
                </a:solidFill>
              </a:defRPr>
            </a:pPr>
            <a:r>
              <a:t>5 маршрутизаторов: 4 этажных и 1 пограничный.</a:t>
            </a:r>
          </a:p>
          <a:p>
            <a:pPr>
              <a:spcAft>
                <a:spcPts val="1500"/>
              </a:spcAft>
              <a:defRPr sz="2300">
                <a:solidFill>
                  <a:srgbClr val="172C47"/>
                </a:solidFill>
              </a:defRPr>
            </a:pPr>
            <a:r>
              <a:t>6 коммутаторов по 24 порта: 144 порта, 99 подключений.</a:t>
            </a:r>
          </a:p>
          <a:p>
            <a:pPr>
              <a:spcAft>
                <a:spcPts val="1500"/>
              </a:spcAft>
              <a:defRPr sz="2300">
                <a:solidFill>
                  <a:srgbClr val="172C47"/>
                </a:solidFill>
              </a:defRPr>
            </a:pPr>
            <a:r>
              <a:t>4 точки Wi-Fi; 8 сетевых МФУ; 4 стойки; 7 ИБП.</a:t>
            </a:r>
          </a:p>
          <a:p>
            <a:pPr>
              <a:spcAft>
                <a:spcPts val="1500"/>
              </a:spcAft>
              <a:defRPr sz="2300">
                <a:solidFill>
                  <a:srgbClr val="172C47"/>
                </a:solidFill>
              </a:defRPr>
            </a:pPr>
            <a:r>
              <a:t>Ориентиры: Cisco C1111-8P, CBS350-24P-4G, TP-Link EAP610.</a:t>
            </a:r>
          </a:p>
          <a:p>
            <a:pPr>
              <a:spcAft>
                <a:spcPts val="1500"/>
              </a:spcAft>
              <a:defRPr sz="2300">
                <a:solidFill>
                  <a:srgbClr val="172C47"/>
                </a:solidFill>
              </a:defRPr>
            </a:pPr>
            <a:r>
              <a:t>Модели, лицензии и цены требуют проверки по актуальным предложениям.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55664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ИТС · ДЗ № 1 · Вариант 8 · Проектный черновик |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72C47"/>
                </a:solidFill>
              </a:defRPr>
            </a:pPr>
            <a:r>
              <a:t>10. Структурная схема: Центральный корпус — этаж 1</a:t>
            </a:r>
          </a:p>
        </p:txBody>
      </p:sp>
      <p:pic>
        <p:nvPicPr>
          <p:cNvPr id="3" name="Picture 2" descr="floor-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4269" y="1051560"/>
            <a:ext cx="8763157" cy="5120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6455664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ИТС · ДЗ № 1 · Вариант 8 · Проектный черновик |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72C47"/>
                </a:solidFill>
              </a:defRPr>
            </a:pPr>
            <a:r>
              <a:t>10. Структурная схема: Центральный корпус — этаж 2</a:t>
            </a:r>
          </a:p>
        </p:txBody>
      </p:sp>
      <p:pic>
        <p:nvPicPr>
          <p:cNvPr id="3" name="Picture 2" descr="floor-C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4269" y="1051560"/>
            <a:ext cx="8763157" cy="5120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6455664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ИТС · ДЗ № 1 · Вариант 8 · Проектный черновик |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72C47"/>
                </a:solidFill>
              </a:defRPr>
            </a:pPr>
            <a:r>
              <a:t>10. Структурная схема: Филиал 1 — этаж 1</a:t>
            </a:r>
          </a:p>
        </p:txBody>
      </p:sp>
      <p:pic>
        <p:nvPicPr>
          <p:cNvPr id="3" name="Picture 2" descr="floor-B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4269" y="1051560"/>
            <a:ext cx="8763157" cy="5120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6455664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ИТС · ДЗ № 1 · Вариант 8 · Проектный черновик |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72C47"/>
                </a:solidFill>
              </a:defRPr>
            </a:pPr>
            <a:r>
              <a:t>10. Структурная схема: Филиал 2 — этаж 1</a:t>
            </a:r>
          </a:p>
        </p:txBody>
      </p:sp>
      <p:pic>
        <p:nvPicPr>
          <p:cNvPr id="3" name="Picture 2" descr="floor-B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4269" y="1051560"/>
            <a:ext cx="8763157" cy="5120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6455664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ИТС · ДЗ № 1 · Вариант 8 · Проектный черновик |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72C47"/>
                </a:solidFill>
              </a:defRPr>
            </a:pPr>
            <a:r>
              <a:t>11. Расчёт кабеля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2344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300">
                <a:solidFill>
                  <a:srgbClr val="172C47"/>
                </a:solidFill>
              </a:defRPr>
            </a:pPr>
            <a:r>
              <a:t>Индивидуальные трассы вычислены по координатам планов, через коридорный лоток.</a:t>
            </a:r>
          </a:p>
          <a:p>
            <a:pPr>
              <a:spcAft>
                <a:spcPts val="1500"/>
              </a:spcAft>
              <a:defRPr sz="2300">
                <a:solidFill>
                  <a:srgbClr val="172C47"/>
                </a:solidFill>
              </a:defRPr>
            </a:pPr>
            <a:r>
              <a:t>99 линий Cat6: 2868.4 м; с 20% запасом: 3442.1 м.</a:t>
            </a:r>
          </a:p>
          <a:p>
            <a:pPr>
              <a:spcAft>
                <a:spcPts val="1500"/>
              </a:spcAft>
              <a:defRPr sz="2300">
                <a:solidFill>
                  <a:srgbClr val="172C47"/>
                </a:solidFill>
              </a:defRPr>
            </a:pPr>
            <a:r>
              <a:t>Закупка: 12 бухт × 305 м = 3660 м.</a:t>
            </a:r>
          </a:p>
          <a:p>
            <a:pPr>
              <a:spcAft>
                <a:spcPts val="1500"/>
              </a:spcAft>
              <a:defRPr sz="2300">
                <a:solidFill>
                  <a:srgbClr val="172C47"/>
                </a:solidFill>
              </a:defRPr>
            </a:pPr>
            <a:r>
              <a:t>Межэтажная оптика: 12 м трасса → 15 м с запасом.</a:t>
            </a:r>
          </a:p>
          <a:p>
            <a:pPr>
              <a:spcAft>
                <a:spcPts val="1500"/>
              </a:spcAft>
              <a:defRPr sz="2300">
                <a:solidFill>
                  <a:srgbClr val="172C47"/>
                </a:solidFill>
              </a:defRPr>
            </a:pPr>
            <a:r>
              <a:t>Максимальная линия Cat6: 46.8 м; ограничения 90/100 м соблюдены.</a:t>
            </a:r>
          </a:p>
          <a:p>
            <a:pPr>
              <a:spcAft>
                <a:spcPts val="1500"/>
              </a:spcAft>
              <a:defRPr sz="2300">
                <a:solidFill>
                  <a:srgbClr val="172C47"/>
                </a:solidFill>
              </a:defRPr>
            </a:pPr>
            <a:r>
              <a:t>Подробная ведомость: DOCX и cable-routes.csv.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55664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ИТС · ДЗ № 1 · Вариант 8 · Проектный черновик |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72C47"/>
                </a:solidFill>
              </a:defRPr>
            </a:pPr>
            <a:r>
              <a:t>12. Смета оборудования и кабеля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2344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300">
                <a:solidFill>
                  <a:srgbClr val="172C47"/>
                </a:solidFill>
              </a:defRPr>
            </a:pPr>
            <a:r>
              <a:t>Оценка капитальных затрат: 9,061,750 ₽.</a:t>
            </a:r>
          </a:p>
          <a:p>
            <a:pPr>
              <a:spcAft>
                <a:spcPts val="1500"/>
              </a:spcAft>
              <a:defRPr sz="2300">
                <a:solidFill>
                  <a:srgbClr val="172C47"/>
                </a:solidFill>
              </a:defRPr>
            </a:pPr>
            <a:r>
              <a:t>Полная таблица количества, единичных цен и стоимости: DOCX.</a:t>
            </a:r>
          </a:p>
          <a:p>
            <a:pPr>
              <a:spcAft>
                <a:spcPts val="1500"/>
              </a:spcAft>
              <a:defRPr sz="2300">
                <a:solidFill>
                  <a:srgbClr val="172C47"/>
                </a:solidFill>
              </a:defRPr>
            </a:pPr>
            <a:r>
              <a:t>Цены — бюджетные допущения; актуальные коммерческие предложения ещё не собраны.</a:t>
            </a:r>
          </a:p>
          <a:p>
            <a:pPr>
              <a:spcAft>
                <a:spcPts val="1500"/>
              </a:spcAft>
              <a:defRPr sz="2300">
                <a:solidFill>
                  <a:srgbClr val="172C47"/>
                </a:solidFill>
              </a:defRPr>
            </a:pPr>
            <a:r>
              <a:t>Не включены монтаж, лицензии, оплата каналов оператора и отдельное резервное хранилище.</a:t>
            </a:r>
          </a:p>
          <a:p>
            <a:pPr>
              <a:spcAft>
                <a:spcPts val="1500"/>
              </a:spcAft>
              <a:defRPr sz="2300">
                <a:solidFill>
                  <a:srgbClr val="172C47"/>
                </a:solidFill>
              </a:defRPr>
            </a:pPr>
            <a:r>
              <a:t>До окончательной сдачи требуется анализ рынка и уточнение сметы.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55664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ИТС · ДЗ № 1 · Вариант 8 · Проектный черновик |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72C47"/>
                </a:solidFill>
              </a:defRPr>
            </a:pPr>
            <a:r>
              <a:t>13. Логическая схема — проектный эскиз</a:t>
            </a:r>
          </a:p>
        </p:txBody>
      </p:sp>
      <p:pic>
        <p:nvPicPr>
          <p:cNvPr id="3" name="Picture 2" descr="logical-dra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468" y="1051560"/>
            <a:ext cx="4236758" cy="5120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6455664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ИТС · ДЗ № 1 · Вариант 8 · Проектный черновик |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72C47"/>
                </a:solidFill>
              </a:defRPr>
            </a:pPr>
            <a:r>
              <a:t>13. Файл Cisco и результаты моделирования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2344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300">
                <a:solidFill>
                  <a:srgbClr val="172C47"/>
                </a:solidFill>
              </a:defRPr>
            </a:pPr>
            <a:r>
              <a:t>Обязательный .pkt и настоящий скриншот Packet Tracer ещё не получены.</a:t>
            </a:r>
          </a:p>
          <a:p>
            <a:pPr>
              <a:spcAft>
                <a:spcPts val="1500"/>
              </a:spcAft>
              <a:defRPr sz="2300">
                <a:solidFill>
                  <a:srgbClr val="172C47"/>
                </a:solidFill>
              </a:defRPr>
            </a:pPr>
            <a:r>
              <a:t>Подготовлены портовая ведомость, адресный план и конфигурации IOS.</a:t>
            </a:r>
          </a:p>
          <a:p>
            <a:pPr>
              <a:spcAft>
                <a:spcPts val="1500"/>
              </a:spcAft>
              <a:defRPr sz="2300">
                <a:solidFill>
                  <a:srgbClr val="172C47"/>
                </a:solidFill>
              </a:defRPr>
            </a:pPr>
            <a:r>
              <a:t>Проверить: DHCP всех VLAN; межэтажный и межфилиальный доступ; HTTP, DNS, почту и NAT.</a:t>
            </a:r>
          </a:p>
          <a:p>
            <a:pPr>
              <a:spcAft>
                <a:spcPts val="1500"/>
              </a:spcAft>
              <a:defRPr sz="2300">
                <a:solidFill>
                  <a:srgbClr val="172C47"/>
                </a:solidFill>
              </a:defRPr>
            </a:pPr>
            <a:r>
              <a:t>Проверить: запрет гостям доступа к медицинской сети и разрешение внешнего HTTP.</a:t>
            </a:r>
          </a:p>
          <a:p>
            <a:pPr>
              <a:spcAft>
                <a:spcPts val="1500"/>
              </a:spcAft>
              <a:defRPr sz="2300">
                <a:solidFill>
                  <a:srgbClr val="172C47"/>
                </a:solidFill>
              </a:defRPr>
            </a:pPr>
            <a:r>
              <a:t>Эскиз предыдущего слайда нужно заменить скриншотом собранной модели.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55664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ИТС · ДЗ № 1 · Вариант 8 · Проектный черновик |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72C47"/>
                </a:solidFill>
              </a:defRPr>
            </a:pPr>
            <a:r>
              <a:t>14. Заключение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2344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300">
                <a:solidFill>
                  <a:srgbClr val="172C47"/>
                </a:solidFill>
              </a:defRPr>
            </a:pPr>
            <a:r>
              <a:t>Разработан проект сети трёх площадок: 112 сотрудников, 84 ПК, 99 подключений.</a:t>
            </a:r>
          </a:p>
          <a:p>
            <a:pPr>
              <a:spcAft>
                <a:spcPts val="1500"/>
              </a:spcAft>
              <a:defRPr sz="2300">
                <a:solidFill>
                  <a:srgbClr val="172C47"/>
                </a:solidFill>
              </a:defRPr>
            </a:pPr>
            <a:r>
              <a:t>Рассчитаны пиковая нагрузка, кабельные трассы и предварительная смета.</a:t>
            </a:r>
          </a:p>
          <a:p>
            <a:pPr>
              <a:spcAft>
                <a:spcPts val="1500"/>
              </a:spcAft>
              <a:defRPr sz="2300">
                <a:solidFill>
                  <a:srgbClr val="172C47"/>
                </a:solidFill>
              </a:defRPr>
            </a:pPr>
            <a:r>
              <a:t>Согласованы этажная маршрутизация, гостевые сегменты и серверные службы.</a:t>
            </a:r>
          </a:p>
          <a:p>
            <a:pPr>
              <a:spcAft>
                <a:spcPts val="1500"/>
              </a:spcAft>
              <a:defRPr sz="2300">
                <a:solidFill>
                  <a:srgbClr val="172C47"/>
                </a:solidFill>
              </a:defRPr>
            </a:pPr>
            <a:r>
              <a:t>До сдачи: собрать и проверить .pkt, вставить скриншот, подтвердить цены и подтвердить комплектации.</a:t>
            </a:r>
          </a:p>
          <a:p>
            <a:pPr>
              <a:spcAft>
                <a:spcPts val="1500"/>
              </a:spcAft>
              <a:defRPr sz="2300">
                <a:solidFill>
                  <a:srgbClr val="172C47"/>
                </a:solidFill>
              </a:defRPr>
            </a:pPr>
            <a:r>
              <a:t>Подготовленный комплект пока является проектным черновиком.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55664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ИТС · ДЗ № 1 · Вариант 8 · Проектный черновик |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