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5156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Calibri"/>
              </a:defRPr>
            </a:pPr>
            <a:r>
              <a:t>1. Предварительное проектирование сети поликлиники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8288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AFC3D3"/>
                </a:solidFill>
                <a:latin typeface="Calibri"/>
              </a:defRPr>
            </a:pPr>
            <a:r>
              <a:t>МГТУ ИМ. Н. Э. БАУМАНА  /  ИУ10  /  ИТС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560320"/>
            <a:ext cx="1005840" cy="41148"/>
          </a:xfrm>
          <a:prstGeom prst="rect">
            <a:avLst/>
          </a:prstGeom>
          <a:solidFill>
            <a:srgbClr val="EEB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2880360"/>
            <a:ext cx="9601200" cy="2907792"/>
          </a:xfrm>
          <a:prstGeom prst="roundRect">
            <a:avLst>
              <a:gd name="adj" fmla="val 8000"/>
            </a:avLst>
          </a:prstGeom>
          <a:solidFill>
            <a:srgbClr val="162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3154680"/>
            <a:ext cx="90068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Calibri"/>
              </a:defRPr>
            </a:pPr>
            <a:r>
              <a:t>МГТУ им. Н. Э. Баумана · факультет ИУ · кафедра ИУ-10</a:t>
            </a:r>
          </a:p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Calibri"/>
              </a:defRPr>
            </a:pPr>
            <a:r>
              <a:t>Дисциплина: «Информационно-телекоммуникационные системы»</a:t>
            </a:r>
          </a:p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Calibri"/>
              </a:defRPr>
            </a:pPr>
            <a:r>
              <a:t>Домашнее задание № 1 · Вариант 8</a:t>
            </a:r>
          </a:p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Calibri"/>
              </a:defRPr>
            </a:pPr>
            <a:r>
              <a:t>Выполнил: Устинов Илья Максимович · Группа: ИУ10-59</a:t>
            </a:r>
          </a:p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Calibri"/>
              </a:defRPr>
            </a:pPr>
            <a:r>
              <a:t>Проверила: Федорова В. А. · Москва,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8440" y="3154680"/>
            <a:ext cx="1280160" cy="1280160"/>
          </a:xfrm>
          <a:prstGeom prst="roundRect">
            <a:avLst>
              <a:gd name="adj" fmla="val 8000"/>
            </a:avLst>
          </a:prstGeom>
          <a:solidFill>
            <a:srgbClr val="162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33888" y="3273552"/>
            <a:ext cx="10058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>
                <a:solidFill>
                  <a:srgbClr val="EEBD58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88168" y="4617720"/>
            <a:ext cx="1234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AFC3D3"/>
                </a:solidFill>
                <a:latin typeface="Calibri"/>
              </a:defRPr>
            </a:pPr>
            <a:r>
              <a:t>ВАРИАНТ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162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1967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AFC3D3"/>
                </a:solidFill>
                <a:latin typeface="Calibri"/>
              </a:defRPr>
            </a:pPr>
            <a:r>
              <a:t>ГОРОДСКАЯ ПОЛИКЛИНИКА  /  ВАРИАНТ 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91088" y="6492240"/>
            <a:ext cx="640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EEBD58"/>
                </a:solidFill>
                <a:latin typeface="Calibri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12064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700" b="1">
                <a:solidFill>
                  <a:srgbClr val="FFFFFF"/>
                </a:solidFill>
                <a:latin typeface="Calibri"/>
              </a:defRPr>
            </a:pPr>
            <a:r>
              <a:t>2. Постановка задачи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8288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AFC3D3"/>
                </a:solidFill>
                <a:latin typeface="Calibri"/>
              </a:defRPr>
            </a:pPr>
            <a:r>
              <a:t>МГТУ ИМ. Н. Э. БАУМАНА  /  ИУ10  /  ИТС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005840" cy="41148"/>
          </a:xfrm>
          <a:prstGeom prst="rect">
            <a:avLst/>
          </a:prstGeom>
          <a:solidFill>
            <a:srgbClr val="EEB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5504688" cy="22219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" y="1764792"/>
            <a:ext cx="32004" cy="1801367"/>
          </a:xfrm>
          <a:prstGeom prst="rect">
            <a:avLst/>
          </a:prstGeom>
          <a:solidFill>
            <a:srgbClr val="52C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764792"/>
            <a:ext cx="4892040" cy="18013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900" b="0">
                <a:solidFill>
                  <a:srgbClr val="162C44"/>
                </a:solidFill>
                <a:latin typeface="Calibri"/>
              </a:defRPr>
            </a:pPr>
            <a:r>
              <a:t>Спроектировать ЛВС городской поликлиники: центральный корпус и два филиала в разных районах города.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53912" y="1554480"/>
            <a:ext cx="5504688" cy="22219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18503" y="1764792"/>
            <a:ext cx="32004" cy="1801367"/>
          </a:xfrm>
          <a:prstGeom prst="rect">
            <a:avLst/>
          </a:prstGeom>
          <a:solidFill>
            <a:srgbClr val="52C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1383" y="1764792"/>
            <a:ext cx="4892040" cy="18013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900" b="0">
                <a:solidFill>
                  <a:srgbClr val="162C44"/>
                </a:solidFill>
                <a:latin typeface="Calibri"/>
              </a:defRPr>
            </a:pPr>
            <a:r>
              <a:t>Обеспечить МИС, обмен исследованиями, почту, Интернет, печать и беспроводной доступ.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922776"/>
            <a:ext cx="5504688" cy="22219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" y="4133088"/>
            <a:ext cx="32004" cy="1801367"/>
          </a:xfrm>
          <a:prstGeom prst="rect">
            <a:avLst/>
          </a:prstGeom>
          <a:solidFill>
            <a:srgbClr val="52C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4133088"/>
            <a:ext cx="4892040" cy="18013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900" b="0">
                <a:solidFill>
                  <a:srgbClr val="162C44"/>
                </a:solidFill>
                <a:latin typeface="Calibri"/>
              </a:defRPr>
            </a:pPr>
            <a:r>
              <a:t>Результаты: проект, расчёты DOCX, планы этажей и логическая модель Cisco Packet Tracer.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3912" y="3922776"/>
            <a:ext cx="5504688" cy="22219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18503" y="4133088"/>
            <a:ext cx="32004" cy="1801367"/>
          </a:xfrm>
          <a:prstGeom prst="rect">
            <a:avLst/>
          </a:prstGeom>
          <a:solidFill>
            <a:srgbClr val="52C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1383" y="4133088"/>
            <a:ext cx="4892040" cy="18013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900" b="0">
                <a:solidFill>
                  <a:srgbClr val="162C44"/>
                </a:solidFill>
                <a:latin typeface="Calibri"/>
              </a:defRPr>
            </a:pPr>
            <a:r>
              <a:t>Межэтажные и межкорпусные связи — через маршрутизаторы.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162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1967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AFC3D3"/>
                </a:solidFill>
                <a:latin typeface="Calibri"/>
              </a:defRPr>
            </a:pPr>
            <a:r>
              <a:t>ГОРОДСКАЯ ПОЛИКЛИНИКА  /  ВАРИАНТ 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91088" y="6492240"/>
            <a:ext cx="640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EEBD58"/>
                </a:solidFill>
                <a:latin typeface="Calibri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12064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700" b="1">
                <a:solidFill>
                  <a:srgbClr val="FFFFFF"/>
                </a:solidFill>
                <a:latin typeface="Calibri"/>
              </a:defRPr>
            </a:pPr>
            <a:r>
              <a:t>3. Здания и размещение на местности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8288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AFC3D3"/>
                </a:solidFill>
                <a:latin typeface="Calibri"/>
              </a:defRPr>
            </a:pPr>
            <a:r>
              <a:t>МГТУ ИМ. Н. Э. БАУМАНА  /  ИУ10  /  ИТС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005840" cy="41148"/>
          </a:xfrm>
          <a:prstGeom prst="rect">
            <a:avLst/>
          </a:prstGeom>
          <a:solidFill>
            <a:srgbClr val="EEB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38912" y="1527048"/>
            <a:ext cx="11320272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4597" y="1645920"/>
            <a:ext cx="9182501" cy="436168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162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1967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AFC3D3"/>
                </a:solidFill>
                <a:latin typeface="Calibri"/>
              </a:defRPr>
            </a:pPr>
            <a:r>
              <a:t>ГОРОДСКАЯ ПОЛИКЛИНИКА  /  ВАРИАНТ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91088" y="6492240"/>
            <a:ext cx="640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EEBD58"/>
                </a:solidFill>
                <a:latin typeface="Calibri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12064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700" b="1">
                <a:solidFill>
                  <a:srgbClr val="FFFFFF"/>
                </a:solidFill>
                <a:latin typeface="Calibri"/>
              </a:defRPr>
            </a:pPr>
            <a:r>
              <a:t>4. Организационная структура и взаимодействие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8288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AFC3D3"/>
                </a:solidFill>
                <a:latin typeface="Calibri"/>
              </a:defRPr>
            </a:pPr>
            <a:r>
              <a:t>МГТУ ИМ. Н. Э. БАУМАНА  /  ИУ10  /  ИТС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005840" cy="41148"/>
          </a:xfrm>
          <a:prstGeom prst="rect">
            <a:avLst/>
          </a:prstGeom>
          <a:solidFill>
            <a:srgbClr val="EEB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38912" y="1527048"/>
            <a:ext cx="11320272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r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3284" y="1645920"/>
            <a:ext cx="7805125" cy="436168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162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1967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AFC3D3"/>
                </a:solidFill>
                <a:latin typeface="Calibri"/>
              </a:defRPr>
            </a:pPr>
            <a:r>
              <a:t>ГОРОДСКАЯ ПОЛИКЛИНИКА  /  ВАРИАНТ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91088" y="6492240"/>
            <a:ext cx="640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EEBD58"/>
                </a:solidFill>
                <a:latin typeface="Calibri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12064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700" b="1">
                <a:solidFill>
                  <a:srgbClr val="FFFFFF"/>
                </a:solidFill>
                <a:latin typeface="Calibri"/>
              </a:defRPr>
            </a:pPr>
            <a:r>
              <a:t>5. Прикладные задачи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8288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AFC3D3"/>
                </a:solidFill>
                <a:latin typeface="Calibri"/>
              </a:defRPr>
            </a:pPr>
            <a:r>
              <a:t>МГТУ ИМ. Н. Э. БАУМАНА  /  ИУ10  /  ИТС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005840" cy="41148"/>
          </a:xfrm>
          <a:prstGeom prst="rect">
            <a:avLst/>
          </a:prstGeom>
          <a:solidFill>
            <a:srgbClr val="EEB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5504688" cy="143255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" y="1764792"/>
            <a:ext cx="32004" cy="1011935"/>
          </a:xfrm>
          <a:prstGeom prst="rect">
            <a:avLst/>
          </a:prstGeom>
          <a:solidFill>
            <a:srgbClr val="52C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764792"/>
            <a:ext cx="4892040" cy="1011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900" b="0">
                <a:solidFill>
                  <a:srgbClr val="162C44"/>
                </a:solidFill>
                <a:latin typeface="Calibri"/>
              </a:defRPr>
            </a:pPr>
            <a:r>
              <a:t>Регистратура: запись на приём и управление расписанием.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53912" y="1554480"/>
            <a:ext cx="5504688" cy="143255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18503" y="1764792"/>
            <a:ext cx="32004" cy="1011935"/>
          </a:xfrm>
          <a:prstGeom prst="rect">
            <a:avLst/>
          </a:prstGeom>
          <a:solidFill>
            <a:srgbClr val="52C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1383" y="1764792"/>
            <a:ext cx="4892040" cy="1011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900" b="0">
                <a:solidFill>
                  <a:srgbClr val="162C44"/>
                </a:solidFill>
                <a:latin typeface="Calibri"/>
              </a:defRPr>
            </a:pPr>
            <a:r>
              <a:t>Врачи и сестринская служба: электронные карты, назначения, результаты.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33343"/>
            <a:ext cx="5504688" cy="143255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" y="3343655"/>
            <a:ext cx="32004" cy="1011935"/>
          </a:xfrm>
          <a:prstGeom prst="rect">
            <a:avLst/>
          </a:prstGeom>
          <a:solidFill>
            <a:srgbClr val="52C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343655"/>
            <a:ext cx="4892040" cy="1011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900" b="0">
                <a:solidFill>
                  <a:srgbClr val="162C44"/>
                </a:solidFill>
                <a:latin typeface="Calibri"/>
              </a:defRPr>
            </a:pPr>
            <a:r>
              <a:t>Диагностика: исследования DICOM, передача в архив PACS.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3912" y="3133343"/>
            <a:ext cx="5504688" cy="143255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18503" y="3343655"/>
            <a:ext cx="32004" cy="1011935"/>
          </a:xfrm>
          <a:prstGeom prst="rect">
            <a:avLst/>
          </a:prstGeom>
          <a:solidFill>
            <a:srgbClr val="52C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1383" y="3343655"/>
            <a:ext cx="4892040" cy="1011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900" b="0">
                <a:solidFill>
                  <a:srgbClr val="162C44"/>
                </a:solidFill>
                <a:latin typeface="Calibri"/>
              </a:defRPr>
            </a:pPr>
            <a:r>
              <a:t>Администрация: отчётность; ИТ: обслуживание и резервное копирование.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712207"/>
            <a:ext cx="5504688" cy="143255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" y="4922520"/>
            <a:ext cx="32004" cy="1011935"/>
          </a:xfrm>
          <a:prstGeom prst="rect">
            <a:avLst/>
          </a:prstGeom>
          <a:solidFill>
            <a:srgbClr val="52C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4922520"/>
            <a:ext cx="4892040" cy="1011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900" b="0">
                <a:solidFill>
                  <a:srgbClr val="162C44"/>
                </a:solidFill>
                <a:latin typeface="Calibri"/>
              </a:defRPr>
            </a:pPr>
            <a:r>
              <a:t>Все площадки: почта, Интернет, печать; посетители: изолированный Wi-Fi.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162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51967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AFC3D3"/>
                </a:solidFill>
                <a:latin typeface="Calibri"/>
              </a:defRPr>
            </a:pPr>
            <a:r>
              <a:t>ГОРОДСКАЯ ПОЛИКЛИНИКА  /  ВАРИАНТ 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91088" y="6492240"/>
            <a:ext cx="640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EEBD58"/>
                </a:solidFill>
                <a:latin typeface="Calibri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12064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700" b="1">
                <a:solidFill>
                  <a:srgbClr val="FFFFFF"/>
                </a:solidFill>
                <a:latin typeface="Calibri"/>
              </a:defRPr>
            </a:pPr>
            <a:r>
              <a:t>6. Программное обеспечение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8288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AFC3D3"/>
                </a:solidFill>
                <a:latin typeface="Calibri"/>
              </a:defRPr>
            </a:pPr>
            <a:r>
              <a:t>МГТУ ИМ. Н. Э. БАУМАНА  /  ИУ10  /  ИТС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005840" cy="41148"/>
          </a:xfrm>
          <a:prstGeom prst="rect">
            <a:avLst/>
          </a:prstGeom>
          <a:solidFill>
            <a:srgbClr val="EEB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5504688" cy="22219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" y="1764792"/>
            <a:ext cx="32004" cy="1801367"/>
          </a:xfrm>
          <a:prstGeom prst="rect">
            <a:avLst/>
          </a:prstGeom>
          <a:solidFill>
            <a:srgbClr val="52C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764792"/>
            <a:ext cx="4892040" cy="18013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900" b="0">
                <a:solidFill>
                  <a:srgbClr val="162C44"/>
                </a:solidFill>
                <a:latin typeface="Calibri"/>
              </a:defRPr>
            </a:pPr>
            <a:r>
              <a:t>84 ПК: Windows 11 Pro / совместимая Linux, браузер, офисный пакет, почта, защита рабочих станций.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53912" y="1554480"/>
            <a:ext cx="5504688" cy="22219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18503" y="1764792"/>
            <a:ext cx="32004" cy="1801367"/>
          </a:xfrm>
          <a:prstGeom prst="rect">
            <a:avLst/>
          </a:prstGeom>
          <a:solidFill>
            <a:srgbClr val="52C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1383" y="1764792"/>
            <a:ext cx="4892040" cy="18013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900" b="0">
                <a:solidFill>
                  <a:srgbClr val="162C44"/>
                </a:solidFill>
                <a:latin typeface="Calibri"/>
              </a:defRPr>
            </a:pPr>
            <a:r>
              <a:t>Диагностика: DICOM-просмотрщик.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922776"/>
            <a:ext cx="5504688" cy="22219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" y="4133088"/>
            <a:ext cx="32004" cy="1801367"/>
          </a:xfrm>
          <a:prstGeom prst="rect">
            <a:avLst/>
          </a:prstGeom>
          <a:solidFill>
            <a:srgbClr val="52C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4133088"/>
            <a:ext cx="4892040" cy="18013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900" b="0">
                <a:solidFill>
                  <a:srgbClr val="162C44"/>
                </a:solidFill>
                <a:latin typeface="Calibri"/>
              </a:defRPr>
            </a:pPr>
            <a:r>
              <a:t>3 сервера: МИС и PostgreSQL; DNS и почта; файлы, PACS и резервное копирование.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3912" y="3922776"/>
            <a:ext cx="5504688" cy="22219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18503" y="4133088"/>
            <a:ext cx="32004" cy="1801367"/>
          </a:xfrm>
          <a:prstGeom prst="rect">
            <a:avLst/>
          </a:prstGeom>
          <a:solidFill>
            <a:srgbClr val="52C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1383" y="4133088"/>
            <a:ext cx="4892040" cy="18013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900" b="0">
                <a:solidFill>
                  <a:srgbClr val="162C44"/>
                </a:solidFill>
                <a:latin typeface="Calibri"/>
              </a:defRPr>
            </a:pPr>
            <a:r>
              <a:t>В Packet Tracer: только учебная имитация HTTP, DNS и EMAIL; МИС/PACS не развёртываются.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162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1967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AFC3D3"/>
                </a:solidFill>
                <a:latin typeface="Calibri"/>
              </a:defRPr>
            </a:pPr>
            <a:r>
              <a:t>ГОРОДСКАЯ ПОЛИКЛИНИКА  /  ВАРИАНТ 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91088" y="6492240"/>
            <a:ext cx="640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EEBD58"/>
                </a:solidFill>
                <a:latin typeface="Calibri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12064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700" b="1">
                <a:solidFill>
                  <a:srgbClr val="FFFFFF"/>
                </a:solidFill>
                <a:latin typeface="Calibri"/>
              </a:defRPr>
            </a:pPr>
            <a:r>
              <a:t>7. Максимальная нагрузка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8288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AFC3D3"/>
                </a:solidFill>
                <a:latin typeface="Calibri"/>
              </a:defRPr>
            </a:pPr>
            <a:r>
              <a:t>МГТУ ИМ. Н. Э. БАУМАНА  /  ИУ10  /  ИТС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005840" cy="41148"/>
          </a:xfrm>
          <a:prstGeom prst="rect">
            <a:avLst/>
          </a:prstGeom>
          <a:solidFill>
            <a:srgbClr val="EEB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5504688" cy="143255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" y="1764792"/>
            <a:ext cx="32004" cy="1011935"/>
          </a:xfrm>
          <a:prstGeom prst="rect">
            <a:avLst/>
          </a:prstGeom>
          <a:solidFill>
            <a:srgbClr val="52C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764792"/>
            <a:ext cx="4892040" cy="1011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900" b="0">
                <a:solidFill>
                  <a:srgbClr val="162C44"/>
                </a:solidFill>
                <a:latin typeface="Calibri"/>
              </a:defRPr>
            </a:pPr>
            <a:r>
              <a:t>Часы наибольшей нагрузки: 08:00–11:00 и 16:00–18:00.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53912" y="1554480"/>
            <a:ext cx="5504688" cy="143255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18503" y="1764792"/>
            <a:ext cx="32004" cy="1011935"/>
          </a:xfrm>
          <a:prstGeom prst="rect">
            <a:avLst/>
          </a:prstGeom>
          <a:solidFill>
            <a:srgbClr val="52C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1383" y="1764792"/>
            <a:ext cx="4892040" cy="1011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900" b="0">
                <a:solidFill>
                  <a:srgbClr val="162C44"/>
                </a:solidFill>
                <a:latin typeface="Calibri"/>
              </a:defRPr>
            </a:pPr>
            <a:r>
              <a:t>C = 1,25 × 1,20 × ΣR; 25% служебный запас, 20% рост.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33343"/>
            <a:ext cx="5504688" cy="143255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" y="3343655"/>
            <a:ext cx="32004" cy="1011935"/>
          </a:xfrm>
          <a:prstGeom prst="rect">
            <a:avLst/>
          </a:prstGeom>
          <a:solidFill>
            <a:srgbClr val="52C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343655"/>
            <a:ext cx="4892040" cy="1011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900" b="0">
                <a:solidFill>
                  <a:srgbClr val="162C44"/>
                </a:solidFill>
                <a:latin typeface="Calibri"/>
              </a:defRPr>
            </a:pPr>
            <a:r>
              <a:t>C1: 180,6; C2: 132,6; каждый филиал: 92,7 Мбит/с.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3912" y="3133343"/>
            <a:ext cx="5504688" cy="143255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18503" y="3343655"/>
            <a:ext cx="32004" cy="1011935"/>
          </a:xfrm>
          <a:prstGeom prst="rect">
            <a:avLst/>
          </a:prstGeom>
          <a:solidFill>
            <a:srgbClr val="52C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1383" y="3343655"/>
            <a:ext cx="4892040" cy="1011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900" b="0">
                <a:solidFill>
                  <a:srgbClr val="162C44"/>
                </a:solidFill>
                <a:latin typeface="Calibri"/>
              </a:defRPr>
            </a:pPr>
            <a:r>
              <a:t>Серверные потоки: 375,6 Мбит/с; стык C1–EDGE: 351 Мбит/с.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712207"/>
            <a:ext cx="5504688" cy="143255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" y="4922520"/>
            <a:ext cx="32004" cy="1011935"/>
          </a:xfrm>
          <a:prstGeom prst="rect">
            <a:avLst/>
          </a:prstGeom>
          <a:solidFill>
            <a:srgbClr val="52C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4922520"/>
            <a:ext cx="4892040" cy="1011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900" b="0">
                <a:solidFill>
                  <a:srgbClr val="162C44"/>
                </a:solidFill>
                <a:latin typeface="Calibri"/>
              </a:defRPr>
            </a:pPr>
            <a:r>
              <a:t>Интернет: 123 Мбит/с → канал 200 Мбит/с.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3912" y="4712207"/>
            <a:ext cx="5504688" cy="143255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18503" y="4922520"/>
            <a:ext cx="32004" cy="1011935"/>
          </a:xfrm>
          <a:prstGeom prst="rect">
            <a:avLst/>
          </a:prstGeom>
          <a:solidFill>
            <a:srgbClr val="52C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01383" y="4922520"/>
            <a:ext cx="4892040" cy="1011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900" b="0">
                <a:solidFill>
                  <a:srgbClr val="162C44"/>
                </a:solidFill>
                <a:latin typeface="Calibri"/>
              </a:defRPr>
            </a:pPr>
            <a:r>
              <a:t>Подробные исходные значения и расчёты: «Расчёты_вариант_8.docx».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162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651967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AFC3D3"/>
                </a:solidFill>
                <a:latin typeface="Calibri"/>
              </a:defRPr>
            </a:pPr>
            <a:r>
              <a:t>ГОРОДСКАЯ ПОЛИКЛИНИКА  /  ВАРИАНТ 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91088" y="6492240"/>
            <a:ext cx="640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EEBD58"/>
                </a:solidFill>
                <a:latin typeface="Calibri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12064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700" b="1">
                <a:solidFill>
                  <a:srgbClr val="FFFFFF"/>
                </a:solidFill>
                <a:latin typeface="Calibri"/>
              </a:defRPr>
            </a:pPr>
            <a:r>
              <a:t>8. Стандарт, кабель и топология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8288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AFC3D3"/>
                </a:solidFill>
                <a:latin typeface="Calibri"/>
              </a:defRPr>
            </a:pPr>
            <a:r>
              <a:t>МГТУ ИМ. Н. Э. БАУМАНА  /  ИУ10  /  ИТС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005840" cy="41148"/>
          </a:xfrm>
          <a:prstGeom prst="rect">
            <a:avLst/>
          </a:prstGeom>
          <a:solidFill>
            <a:srgbClr val="EEB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5504688" cy="143255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" y="1764792"/>
            <a:ext cx="32004" cy="1011935"/>
          </a:xfrm>
          <a:prstGeom prst="rect">
            <a:avLst/>
          </a:prstGeom>
          <a:solidFill>
            <a:srgbClr val="52C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764792"/>
            <a:ext cx="4892040" cy="1011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900" b="0">
                <a:solidFill>
                  <a:srgbClr val="162C44"/>
                </a:solidFill>
                <a:latin typeface="Calibri"/>
              </a:defRPr>
            </a:pPr>
            <a:r>
              <a:t>Иерархическая звезда с отдельными этажными сегментами.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53912" y="1554480"/>
            <a:ext cx="5504688" cy="143255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18503" y="1764792"/>
            <a:ext cx="32004" cy="1011935"/>
          </a:xfrm>
          <a:prstGeom prst="rect">
            <a:avLst/>
          </a:prstGeom>
          <a:solidFill>
            <a:srgbClr val="52C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1383" y="1764792"/>
            <a:ext cx="4892040" cy="1011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900" b="0">
                <a:solidFill>
                  <a:srgbClr val="162C44"/>
                </a:solidFill>
                <a:latin typeface="Calibri"/>
              </a:defRPr>
            </a:pPr>
            <a:r>
              <a:t>Рабочие подключения: 1000BASE-T, Cat6 U/UTP LSZH.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33343"/>
            <a:ext cx="5504688" cy="143255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" y="3343655"/>
            <a:ext cx="32004" cy="1011935"/>
          </a:xfrm>
          <a:prstGeom prst="rect">
            <a:avLst/>
          </a:prstGeom>
          <a:solidFill>
            <a:srgbClr val="52C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343655"/>
            <a:ext cx="4892040" cy="1011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900" b="0">
                <a:solidFill>
                  <a:srgbClr val="162C44"/>
                </a:solidFill>
                <a:latin typeface="Calibri"/>
              </a:defRPr>
            </a:pPr>
            <a:r>
              <a:t>Межэтажная магистраль: 1000BASE-SX, OM3, 15 м к закупке.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3912" y="3133343"/>
            <a:ext cx="5504688" cy="143255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18503" y="3343655"/>
            <a:ext cx="32004" cy="1011935"/>
          </a:xfrm>
          <a:prstGeom prst="rect">
            <a:avLst/>
          </a:prstGeom>
          <a:solidFill>
            <a:srgbClr val="52C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1383" y="3343655"/>
            <a:ext cx="4892040" cy="1011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900" b="0">
                <a:solidFill>
                  <a:srgbClr val="162C44"/>
                </a:solidFill>
                <a:latin typeface="Calibri"/>
              </a:defRPr>
            </a:pPr>
            <a:r>
              <a:t>Удалённые филиалы: операторские Ethernet-каналы по 100 Мбит/с.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712207"/>
            <a:ext cx="5504688" cy="143255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" y="4922520"/>
            <a:ext cx="32004" cy="1011935"/>
          </a:xfrm>
          <a:prstGeom prst="rect">
            <a:avLst/>
          </a:prstGeom>
          <a:solidFill>
            <a:srgbClr val="52C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4922520"/>
            <a:ext cx="4892040" cy="1011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900" b="0">
                <a:solidFill>
                  <a:srgbClr val="162C44"/>
                </a:solidFill>
                <a:latin typeface="Calibri"/>
              </a:defRPr>
            </a:pPr>
            <a:r>
              <a:t>На этажах — коммутаторы; между этажами и зданиями — маршрутизаторы.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3912" y="4712207"/>
            <a:ext cx="5504688" cy="143255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18503" y="4922520"/>
            <a:ext cx="32004" cy="1011935"/>
          </a:xfrm>
          <a:prstGeom prst="rect">
            <a:avLst/>
          </a:prstGeom>
          <a:solidFill>
            <a:srgbClr val="52C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01383" y="4922520"/>
            <a:ext cx="4892040" cy="1011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900" b="0">
                <a:solidFill>
                  <a:srgbClr val="162C44"/>
                </a:solidFill>
                <a:latin typeface="Calibri"/>
              </a:defRPr>
            </a:pPr>
            <a:r>
              <a:t>Учебный 2960: 100 Мбит/с к ПК, 1 Гбит/с на магистрали.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162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651967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AFC3D3"/>
                </a:solidFill>
                <a:latin typeface="Calibri"/>
              </a:defRPr>
            </a:pPr>
            <a:r>
              <a:t>ГОРОДСКАЯ ПОЛИКЛИНИКА  /  ВАРИАНТ 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91088" y="6492240"/>
            <a:ext cx="640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EEBD58"/>
                </a:solidFill>
                <a:latin typeface="Calibri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12064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700" b="1">
                <a:solidFill>
                  <a:srgbClr val="FFFFFF"/>
                </a:solidFill>
                <a:latin typeface="Calibri"/>
              </a:defRPr>
            </a:pPr>
            <a:r>
              <a:t>9. Количество и характеристики оборудования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8288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AFC3D3"/>
                </a:solidFill>
                <a:latin typeface="Calibri"/>
              </a:defRPr>
            </a:pPr>
            <a:r>
              <a:t>МГТУ ИМ. Н. Э. БАУМАНА  /  ИУ10  /  ИТС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005840" cy="41148"/>
          </a:xfrm>
          <a:prstGeom prst="rect">
            <a:avLst/>
          </a:prstGeom>
          <a:solidFill>
            <a:srgbClr val="EEB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5504688" cy="143255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" y="1764792"/>
            <a:ext cx="32004" cy="1011935"/>
          </a:xfrm>
          <a:prstGeom prst="rect">
            <a:avLst/>
          </a:prstGeom>
          <a:solidFill>
            <a:srgbClr val="52C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764792"/>
            <a:ext cx="4892040" cy="1011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900" b="0">
                <a:solidFill>
                  <a:srgbClr val="162C44"/>
                </a:solidFill>
                <a:latin typeface="Calibri"/>
              </a:defRPr>
            </a:pPr>
            <a:r>
              <a:t>84 ПК: 16 ГБ, SSD 512 ГБ, 1GbE. 3 сервера: 64 ГБ ECC, зеркальные SSD.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53912" y="1554480"/>
            <a:ext cx="5504688" cy="143255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18503" y="1764792"/>
            <a:ext cx="32004" cy="1011935"/>
          </a:xfrm>
          <a:prstGeom prst="rect">
            <a:avLst/>
          </a:prstGeom>
          <a:solidFill>
            <a:srgbClr val="52C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1383" y="1764792"/>
            <a:ext cx="4892040" cy="1011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900" b="0">
                <a:solidFill>
                  <a:srgbClr val="162C44"/>
                </a:solidFill>
                <a:latin typeface="Calibri"/>
              </a:defRPr>
            </a:pPr>
            <a:r>
              <a:t>5 маршрутизаторов: 4 этажных и 1 пограничный.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33343"/>
            <a:ext cx="5504688" cy="143255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" y="3343655"/>
            <a:ext cx="32004" cy="1011935"/>
          </a:xfrm>
          <a:prstGeom prst="rect">
            <a:avLst/>
          </a:prstGeom>
          <a:solidFill>
            <a:srgbClr val="52C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343655"/>
            <a:ext cx="4892040" cy="1011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900" b="0">
                <a:solidFill>
                  <a:srgbClr val="162C44"/>
                </a:solidFill>
                <a:latin typeface="Calibri"/>
              </a:defRPr>
            </a:pPr>
            <a:r>
              <a:t>6 коммутаторов по 24 порта: 144 порта, 99 подключений.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3912" y="3133343"/>
            <a:ext cx="5504688" cy="143255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18503" y="3343655"/>
            <a:ext cx="32004" cy="1011935"/>
          </a:xfrm>
          <a:prstGeom prst="rect">
            <a:avLst/>
          </a:prstGeom>
          <a:solidFill>
            <a:srgbClr val="52C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1383" y="3343655"/>
            <a:ext cx="4892040" cy="1011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900" b="0">
                <a:solidFill>
                  <a:srgbClr val="162C44"/>
                </a:solidFill>
                <a:latin typeface="Calibri"/>
              </a:defRPr>
            </a:pPr>
            <a:r>
              <a:t>4 точки Wi-Fi; 8 сетевых МФУ; 4 стойки; 7 ИБП.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712207"/>
            <a:ext cx="5504688" cy="143255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" y="4922520"/>
            <a:ext cx="32004" cy="1011935"/>
          </a:xfrm>
          <a:prstGeom prst="rect">
            <a:avLst/>
          </a:prstGeom>
          <a:solidFill>
            <a:srgbClr val="52C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4922520"/>
            <a:ext cx="4892040" cy="1011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900" b="0">
                <a:solidFill>
                  <a:srgbClr val="162C44"/>
                </a:solidFill>
                <a:latin typeface="Calibri"/>
              </a:defRPr>
            </a:pPr>
            <a:r>
              <a:t>Ориентиры: Cisco C1111-8P, CBS350-24P-4G, TP-Link EAP610.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3912" y="4712207"/>
            <a:ext cx="5504688" cy="143255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18503" y="4922520"/>
            <a:ext cx="32004" cy="1011935"/>
          </a:xfrm>
          <a:prstGeom prst="rect">
            <a:avLst/>
          </a:prstGeom>
          <a:solidFill>
            <a:srgbClr val="52C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01383" y="4922520"/>
            <a:ext cx="4892040" cy="1011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900" b="0">
                <a:solidFill>
                  <a:srgbClr val="162C44"/>
                </a:solidFill>
                <a:latin typeface="Calibri"/>
              </a:defRPr>
            </a:pPr>
            <a:r>
              <a:t>Модельные ориентиры и ориентировочная стоимость приведены в расчётном приложении.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162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651967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AFC3D3"/>
                </a:solidFill>
                <a:latin typeface="Calibri"/>
              </a:defRPr>
            </a:pPr>
            <a:r>
              <a:t>ГОРОДСКАЯ ПОЛИКЛИНИКА  /  ВАРИАНТ 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91088" y="6492240"/>
            <a:ext cx="640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EEBD58"/>
                </a:solidFill>
                <a:latin typeface="Calibri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12064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700" b="1">
                <a:solidFill>
                  <a:srgbClr val="FFFFFF"/>
                </a:solidFill>
                <a:latin typeface="Calibri"/>
              </a:defRPr>
            </a:pPr>
            <a:r>
              <a:t>10. Структурная схема: Центральный корпус — этаж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8288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AFC3D3"/>
                </a:solidFill>
                <a:latin typeface="Calibri"/>
              </a:defRPr>
            </a:pPr>
            <a:r>
              <a:t>МГТУ ИМ. Н. Э. БАУМАНА  /  ИУ10  /  ИТС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005840" cy="41148"/>
          </a:xfrm>
          <a:prstGeom prst="rect">
            <a:avLst/>
          </a:prstGeom>
          <a:solidFill>
            <a:srgbClr val="EEB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38912" y="1527048"/>
            <a:ext cx="11320272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loor-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3681" y="1645920"/>
            <a:ext cx="7464332" cy="436168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162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1967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AFC3D3"/>
                </a:solidFill>
                <a:latin typeface="Calibri"/>
              </a:defRPr>
            </a:pPr>
            <a:r>
              <a:t>ГОРОДСКАЯ ПОЛИКЛИНИКА  /  ВАРИАНТ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91088" y="6492240"/>
            <a:ext cx="640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EEBD58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12064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700" b="1">
                <a:solidFill>
                  <a:srgbClr val="FFFFFF"/>
                </a:solidFill>
                <a:latin typeface="Calibri"/>
              </a:defRPr>
            </a:pPr>
            <a:r>
              <a:t>10. Структурная схема: Центральный корпус — этаж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8288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AFC3D3"/>
                </a:solidFill>
                <a:latin typeface="Calibri"/>
              </a:defRPr>
            </a:pPr>
            <a:r>
              <a:t>МГТУ ИМ. Н. Э. БАУМАНА  /  ИУ10  /  ИТС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005840" cy="41148"/>
          </a:xfrm>
          <a:prstGeom prst="rect">
            <a:avLst/>
          </a:prstGeom>
          <a:solidFill>
            <a:srgbClr val="EEB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38912" y="1527048"/>
            <a:ext cx="11320272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loor-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3681" y="1645920"/>
            <a:ext cx="7464332" cy="436168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162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1967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AFC3D3"/>
                </a:solidFill>
                <a:latin typeface="Calibri"/>
              </a:defRPr>
            </a:pPr>
            <a:r>
              <a:t>ГОРОДСКАЯ ПОЛИКЛИНИКА  /  ВАРИАНТ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91088" y="6492240"/>
            <a:ext cx="640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EEBD58"/>
                </a:solidFill>
                <a:latin typeface="Calibr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12064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700" b="1">
                <a:solidFill>
                  <a:srgbClr val="FFFFFF"/>
                </a:solidFill>
                <a:latin typeface="Calibri"/>
              </a:defRPr>
            </a:pPr>
            <a:r>
              <a:t>10. Структурная схема: Филиал 1 — этаж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8288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AFC3D3"/>
                </a:solidFill>
                <a:latin typeface="Calibri"/>
              </a:defRPr>
            </a:pPr>
            <a:r>
              <a:t>МГТУ ИМ. Н. Э. БАУМАНА  /  ИУ10  /  ИТС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005840" cy="41148"/>
          </a:xfrm>
          <a:prstGeom prst="rect">
            <a:avLst/>
          </a:prstGeom>
          <a:solidFill>
            <a:srgbClr val="EEB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38912" y="1527048"/>
            <a:ext cx="11320272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loor-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3681" y="1645920"/>
            <a:ext cx="7464332" cy="436168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162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1967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AFC3D3"/>
                </a:solidFill>
                <a:latin typeface="Calibri"/>
              </a:defRPr>
            </a:pPr>
            <a:r>
              <a:t>ГОРОДСКАЯ ПОЛИКЛИНИКА  /  ВАРИАНТ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91088" y="6492240"/>
            <a:ext cx="640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EEBD58"/>
                </a:solidFill>
                <a:latin typeface="Calibr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12064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700" b="1">
                <a:solidFill>
                  <a:srgbClr val="FFFFFF"/>
                </a:solidFill>
                <a:latin typeface="Calibri"/>
              </a:defRPr>
            </a:pPr>
            <a:r>
              <a:t>10. Структурная схема: Филиал 2 — этаж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8288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AFC3D3"/>
                </a:solidFill>
                <a:latin typeface="Calibri"/>
              </a:defRPr>
            </a:pPr>
            <a:r>
              <a:t>МГТУ ИМ. Н. Э. БАУМАНА  /  ИУ10  /  ИТС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005840" cy="41148"/>
          </a:xfrm>
          <a:prstGeom prst="rect">
            <a:avLst/>
          </a:prstGeom>
          <a:solidFill>
            <a:srgbClr val="EEB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38912" y="1527048"/>
            <a:ext cx="11320272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loor-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3681" y="1645920"/>
            <a:ext cx="7464332" cy="436168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162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1967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AFC3D3"/>
                </a:solidFill>
                <a:latin typeface="Calibri"/>
              </a:defRPr>
            </a:pPr>
            <a:r>
              <a:t>ГОРОДСКАЯ ПОЛИКЛИНИКА  /  ВАРИАНТ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91088" y="6492240"/>
            <a:ext cx="640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EEBD58"/>
                </a:solidFill>
                <a:latin typeface="Calibri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12064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700" b="1">
                <a:solidFill>
                  <a:srgbClr val="FFFFFF"/>
                </a:solidFill>
                <a:latin typeface="Calibri"/>
              </a:defRPr>
            </a:pPr>
            <a:r>
              <a:t>11. Расчёт кабеля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8288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AFC3D3"/>
                </a:solidFill>
                <a:latin typeface="Calibri"/>
              </a:defRPr>
            </a:pPr>
            <a:r>
              <a:t>МГТУ ИМ. Н. Э. БАУМАНА  /  ИУ10  /  ИТС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005840" cy="41148"/>
          </a:xfrm>
          <a:prstGeom prst="rect">
            <a:avLst/>
          </a:prstGeom>
          <a:solidFill>
            <a:srgbClr val="EEB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5504688" cy="143255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" y="1764792"/>
            <a:ext cx="32004" cy="1011935"/>
          </a:xfrm>
          <a:prstGeom prst="rect">
            <a:avLst/>
          </a:prstGeom>
          <a:solidFill>
            <a:srgbClr val="52C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764792"/>
            <a:ext cx="4892040" cy="1011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900" b="0">
                <a:solidFill>
                  <a:srgbClr val="162C44"/>
                </a:solidFill>
                <a:latin typeface="Calibri"/>
              </a:defRPr>
            </a:pPr>
            <a:r>
              <a:t>Индивидуальные трассы вычислены по координатам планов, через коридорный лоток.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53912" y="1554480"/>
            <a:ext cx="5504688" cy="143255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18503" y="1764792"/>
            <a:ext cx="32004" cy="1011935"/>
          </a:xfrm>
          <a:prstGeom prst="rect">
            <a:avLst/>
          </a:prstGeom>
          <a:solidFill>
            <a:srgbClr val="52C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1383" y="1764792"/>
            <a:ext cx="4892040" cy="1011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900" b="0">
                <a:solidFill>
                  <a:srgbClr val="162C44"/>
                </a:solidFill>
                <a:latin typeface="Calibri"/>
              </a:defRPr>
            </a:pPr>
            <a:r>
              <a:t>99 линий Cat6: 2868.4 м; с 20% запасом: 3442.1 м.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33343"/>
            <a:ext cx="5504688" cy="143255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" y="3343655"/>
            <a:ext cx="32004" cy="1011935"/>
          </a:xfrm>
          <a:prstGeom prst="rect">
            <a:avLst/>
          </a:prstGeom>
          <a:solidFill>
            <a:srgbClr val="52C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343655"/>
            <a:ext cx="4892040" cy="1011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900" b="0">
                <a:solidFill>
                  <a:srgbClr val="162C44"/>
                </a:solidFill>
                <a:latin typeface="Calibri"/>
              </a:defRPr>
            </a:pPr>
            <a:r>
              <a:t>Закупка: 12 бухт × 305 м = 3660 м.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3912" y="3133343"/>
            <a:ext cx="5504688" cy="143255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18503" y="3343655"/>
            <a:ext cx="32004" cy="1011935"/>
          </a:xfrm>
          <a:prstGeom prst="rect">
            <a:avLst/>
          </a:prstGeom>
          <a:solidFill>
            <a:srgbClr val="52C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1383" y="3343655"/>
            <a:ext cx="4892040" cy="1011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900" b="0">
                <a:solidFill>
                  <a:srgbClr val="162C44"/>
                </a:solidFill>
                <a:latin typeface="Calibri"/>
              </a:defRPr>
            </a:pPr>
            <a:r>
              <a:t>Межэтажная оптика: 12 м трасса → 15 м с запасом.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712207"/>
            <a:ext cx="5504688" cy="143255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" y="4922520"/>
            <a:ext cx="32004" cy="1011935"/>
          </a:xfrm>
          <a:prstGeom prst="rect">
            <a:avLst/>
          </a:prstGeom>
          <a:solidFill>
            <a:srgbClr val="52C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4922520"/>
            <a:ext cx="4892040" cy="1011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900" b="0">
                <a:solidFill>
                  <a:srgbClr val="162C44"/>
                </a:solidFill>
                <a:latin typeface="Calibri"/>
              </a:defRPr>
            </a:pPr>
            <a:r>
              <a:t>Максимальная линия Cat6: 46.8 м; ограничения 90/100 м соблюдены.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3912" y="4712207"/>
            <a:ext cx="5504688" cy="143255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18503" y="4922520"/>
            <a:ext cx="32004" cy="1011935"/>
          </a:xfrm>
          <a:prstGeom prst="rect">
            <a:avLst/>
          </a:prstGeom>
          <a:solidFill>
            <a:srgbClr val="52C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01383" y="4922520"/>
            <a:ext cx="4892040" cy="1011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900" b="0">
                <a:solidFill>
                  <a:srgbClr val="162C44"/>
                </a:solidFill>
                <a:latin typeface="Calibri"/>
              </a:defRPr>
            </a:pPr>
            <a:r>
              <a:t>Подробная ведомость: DOCX и cable-routes.csv.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162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651967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AFC3D3"/>
                </a:solidFill>
                <a:latin typeface="Calibri"/>
              </a:defRPr>
            </a:pPr>
            <a:r>
              <a:t>ГОРОДСКАЯ ПОЛИКЛИНИКА  /  ВАРИАНТ 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91088" y="6492240"/>
            <a:ext cx="640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EEBD58"/>
                </a:solidFill>
                <a:latin typeface="Calibr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12064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700" b="1">
                <a:solidFill>
                  <a:srgbClr val="FFFFFF"/>
                </a:solidFill>
                <a:latin typeface="Calibri"/>
              </a:defRPr>
            </a:pPr>
            <a:r>
              <a:t>12. Смета оборудования и кабеля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8288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AFC3D3"/>
                </a:solidFill>
                <a:latin typeface="Calibri"/>
              </a:defRPr>
            </a:pPr>
            <a:r>
              <a:t>МГТУ ИМ. Н. Э. БАУМАНА  /  ИУ10  /  ИТС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005840" cy="41148"/>
          </a:xfrm>
          <a:prstGeom prst="rect">
            <a:avLst/>
          </a:prstGeom>
          <a:solidFill>
            <a:srgbClr val="EEB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5504688" cy="1432559"/>
          </a:xfrm>
          <a:prstGeom prst="roundRect">
            <a:avLst>
              <a:gd name="adj" fmla="val 8000"/>
            </a:avLst>
          </a:prstGeom>
          <a:solidFill>
            <a:srgbClr val="EEB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" y="1764792"/>
            <a:ext cx="32004" cy="1011935"/>
          </a:xfrm>
          <a:prstGeom prst="rect">
            <a:avLst/>
          </a:prstGeom>
          <a:solidFill>
            <a:srgbClr val="162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764792"/>
            <a:ext cx="4892040" cy="1011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2500" b="1">
                <a:solidFill>
                  <a:srgbClr val="162C44"/>
                </a:solidFill>
                <a:latin typeface="Calibri"/>
              </a:defRPr>
            </a:pPr>
            <a:r>
              <a:t>Оценка капитальных затрат:</a:t>
            </a:r>
          </a:p>
          <a:p>
            <a:pPr>
              <a:defRPr sz="2500" b="1">
                <a:solidFill>
                  <a:srgbClr val="162C44"/>
                </a:solidFill>
                <a:latin typeface="Calibri"/>
              </a:defRPr>
            </a:pPr>
            <a:r>
              <a:t>9 061 750 ₽.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53912" y="1554480"/>
            <a:ext cx="5504688" cy="143255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18503" y="1764792"/>
            <a:ext cx="32004" cy="1011935"/>
          </a:xfrm>
          <a:prstGeom prst="rect">
            <a:avLst/>
          </a:prstGeom>
          <a:solidFill>
            <a:srgbClr val="52C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1383" y="1764792"/>
            <a:ext cx="4892040" cy="1011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900" b="0">
                <a:solidFill>
                  <a:srgbClr val="162C44"/>
                </a:solidFill>
                <a:latin typeface="Calibri"/>
              </a:defRPr>
            </a:pPr>
            <a:r>
              <a:t>Полная таблица количества, единичных цен и стоимости: DOCX.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33343"/>
            <a:ext cx="5504688" cy="143255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" y="3343655"/>
            <a:ext cx="32004" cy="1011935"/>
          </a:xfrm>
          <a:prstGeom prst="rect">
            <a:avLst/>
          </a:prstGeom>
          <a:solidFill>
            <a:srgbClr val="52C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343655"/>
            <a:ext cx="4892040" cy="1011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900" b="0">
                <a:solidFill>
                  <a:srgbClr val="162C44"/>
                </a:solidFill>
                <a:latin typeface="Calibri"/>
              </a:defRPr>
            </a:pPr>
            <a:r>
              <a:t>Цены приняты ориентировочно для оценки бюджета проекта.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3912" y="3133343"/>
            <a:ext cx="5504688" cy="143255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18503" y="3343655"/>
            <a:ext cx="32004" cy="1011935"/>
          </a:xfrm>
          <a:prstGeom prst="rect">
            <a:avLst/>
          </a:prstGeom>
          <a:solidFill>
            <a:srgbClr val="52C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1383" y="3343655"/>
            <a:ext cx="4892040" cy="1011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900" b="0">
                <a:solidFill>
                  <a:srgbClr val="162C44"/>
                </a:solidFill>
                <a:latin typeface="Calibri"/>
              </a:defRPr>
            </a:pPr>
            <a:r>
              <a:t>Не включены монтаж, лицензии, оплата каналов оператора и отдельное резервное хранилище.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712207"/>
            <a:ext cx="5504688" cy="143255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" y="4922520"/>
            <a:ext cx="32004" cy="1011935"/>
          </a:xfrm>
          <a:prstGeom prst="rect">
            <a:avLst/>
          </a:prstGeom>
          <a:solidFill>
            <a:srgbClr val="52C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4922520"/>
            <a:ext cx="4892040" cy="1011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900" b="0">
                <a:solidFill>
                  <a:srgbClr val="162C44"/>
                </a:solidFill>
                <a:latin typeface="Calibri"/>
              </a:defRPr>
            </a:pPr>
            <a:r>
              <a:t>Полная смета с количеством и ценой каждой позиции приведена в DOCX.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162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51967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AFC3D3"/>
                </a:solidFill>
                <a:latin typeface="Calibri"/>
              </a:defRPr>
            </a:pPr>
            <a:r>
              <a:t>ГОРОДСКАЯ ПОЛИКЛИНИКА  /  ВАРИАНТ 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91088" y="6492240"/>
            <a:ext cx="640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EEBD58"/>
                </a:solidFill>
                <a:latin typeface="Calibr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12064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700" b="1">
                <a:solidFill>
                  <a:srgbClr val="FFFFFF"/>
                </a:solidFill>
                <a:latin typeface="Calibri"/>
              </a:defRPr>
            </a:pPr>
            <a:r>
              <a:t>13. Логическая схема Cisco Packet Tracer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8288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AFC3D3"/>
                </a:solidFill>
                <a:latin typeface="Calibri"/>
              </a:defRPr>
            </a:pPr>
            <a:r>
              <a:t>МГТУ ИМ. Н. Э. БАУМАНА  /  ИУ10  /  ИТС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005840" cy="41148"/>
          </a:xfrm>
          <a:prstGeom prst="rect">
            <a:avLst/>
          </a:prstGeom>
          <a:solidFill>
            <a:srgbClr val="EEB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38912" y="1527048"/>
            <a:ext cx="11320272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cket-trac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6931" y="1645920"/>
            <a:ext cx="8977832" cy="436168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162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1967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AFC3D3"/>
                </a:solidFill>
                <a:latin typeface="Calibri"/>
              </a:defRPr>
            </a:pPr>
            <a:r>
              <a:t>ГОРОДСКАЯ ПОЛИКЛИНИКА  /  ВАРИАНТ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91088" y="6492240"/>
            <a:ext cx="640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EEBD58"/>
                </a:solidFill>
                <a:latin typeface="Calibri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12064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700" b="1">
                <a:solidFill>
                  <a:srgbClr val="FFFFFF"/>
                </a:solidFill>
                <a:latin typeface="Calibri"/>
              </a:defRPr>
            </a:pPr>
            <a:r>
              <a:t>13. Файл Cisco и результаты моделирования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8288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AFC3D3"/>
                </a:solidFill>
                <a:latin typeface="Calibri"/>
              </a:defRPr>
            </a:pPr>
            <a:r>
              <a:t>МГТУ ИМ. Н. Э. БАУМАНА  /  ИУ10  /  ИТС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005840" cy="41148"/>
          </a:xfrm>
          <a:prstGeom prst="rect">
            <a:avLst/>
          </a:prstGeom>
          <a:solidFill>
            <a:srgbClr val="EEB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5504688" cy="143255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" y="1764792"/>
            <a:ext cx="32004" cy="1011935"/>
          </a:xfrm>
          <a:prstGeom prst="rect">
            <a:avLst/>
          </a:prstGeom>
          <a:solidFill>
            <a:srgbClr val="52C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764792"/>
            <a:ext cx="4892040" cy="1011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900" b="0">
                <a:solidFill>
                  <a:srgbClr val="162C44"/>
                </a:solidFill>
                <a:latin typeface="Calibri"/>
              </a:defRPr>
            </a:pPr>
            <a:r>
              <a:t>Модель clinic8.pkt · Cisco Packet Tracer 8.2.2.0400.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53912" y="1554480"/>
            <a:ext cx="5504688" cy="143255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18503" y="1764792"/>
            <a:ext cx="32004" cy="1011935"/>
          </a:xfrm>
          <a:prstGeom prst="rect">
            <a:avLst/>
          </a:prstGeom>
          <a:solidFill>
            <a:srgbClr val="52C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1383" y="1764792"/>
            <a:ext cx="4892040" cy="1011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900" b="0">
                <a:solidFill>
                  <a:srgbClr val="162C44"/>
                </a:solidFill>
                <a:latin typeface="Calibri"/>
              </a:defRPr>
            </a:pPr>
            <a:r>
              <a:t>84 ПК, 4 гостевых планшета, 112 кабелей; сохранены VLAN и WPA2/AES.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33343"/>
            <a:ext cx="5504688" cy="143255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" y="3343655"/>
            <a:ext cx="32004" cy="1011935"/>
          </a:xfrm>
          <a:prstGeom prst="rect">
            <a:avLst/>
          </a:prstGeom>
          <a:solidFill>
            <a:srgbClr val="52C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343655"/>
            <a:ext cx="4892040" cy="1011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900" b="0">
                <a:solidFill>
                  <a:srgbClr val="162C44"/>
                </a:solidFill>
                <a:latin typeface="Calibri"/>
              </a:defRPr>
            </a:pPr>
            <a:r>
              <a:t>Проверена связь C2/B1/B2 с МИС и внешним сервером; B2 → B1.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3912" y="3133343"/>
            <a:ext cx="5504688" cy="143255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18503" y="3343655"/>
            <a:ext cx="32004" cy="1011935"/>
          </a:xfrm>
          <a:prstGeom prst="rect">
            <a:avLst/>
          </a:prstGeom>
          <a:solidFill>
            <a:srgbClr val="52C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1383" y="3343655"/>
            <a:ext cx="4892040" cy="1011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900" b="0">
                <a:solidFill>
                  <a:srgbClr val="162C44"/>
                </a:solidFill>
                <a:latin typeface="Calibri"/>
              </a:defRPr>
            </a:pPr>
            <a:r>
              <a:t>С B1 открыты три сайта по DNS-именам; доставлена почта B1 → C1 и C2 → B2.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712207"/>
            <a:ext cx="5504688" cy="143255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" y="4922520"/>
            <a:ext cx="32004" cy="1011935"/>
          </a:xfrm>
          <a:prstGeom prst="rect">
            <a:avLst/>
          </a:prstGeom>
          <a:solidFill>
            <a:srgbClr val="52C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4922520"/>
            <a:ext cx="4892040" cy="1011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900" b="0">
                <a:solidFill>
                  <a:srgbClr val="162C44"/>
                </a:solidFill>
                <a:latin typeface="Calibri"/>
              </a:defRPr>
            </a:pPr>
            <a:r>
              <a:t>На всех четырёх гостевых площадках внешний HTTP доступен, внутренний ICMP/HTTP заблокирован.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3912" y="4712207"/>
            <a:ext cx="5504688" cy="143255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18503" y="4922520"/>
            <a:ext cx="32004" cy="1011935"/>
          </a:xfrm>
          <a:prstGeom prst="rect">
            <a:avLst/>
          </a:prstGeom>
          <a:solidFill>
            <a:srgbClr val="52C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01383" y="4922520"/>
            <a:ext cx="4892040" cy="1011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900" b="0">
                <a:solidFill>
                  <a:srgbClr val="162C44"/>
                </a:solidFill>
                <a:latin typeface="Calibri"/>
              </a:defRPr>
            </a:pPr>
            <a:r>
              <a:t>На всех четырёх гостевых планшетах сохранён DHCP. Общий вид модели приведён на предыдущем слайде.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162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651967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AFC3D3"/>
                </a:solidFill>
                <a:latin typeface="Calibri"/>
              </a:defRPr>
            </a:pPr>
            <a:r>
              <a:t>ГОРОДСКАЯ ПОЛИКЛИНИКА  /  ВАРИАНТ 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91088" y="6492240"/>
            <a:ext cx="640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EEBD58"/>
                </a:solidFill>
                <a:latin typeface="Calibri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12064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700" b="1">
                <a:solidFill>
                  <a:srgbClr val="FFFFFF"/>
                </a:solidFill>
                <a:latin typeface="Calibri"/>
              </a:defRPr>
            </a:pPr>
            <a:r>
              <a:t>14. Заключение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8288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AFC3D3"/>
                </a:solidFill>
                <a:latin typeface="Calibri"/>
              </a:defRPr>
            </a:pPr>
            <a:r>
              <a:t>МГТУ ИМ. Н. Э. БАУМАНА  /  ИУ10  /  ИТС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005840" cy="41148"/>
          </a:xfrm>
          <a:prstGeom prst="rect">
            <a:avLst/>
          </a:prstGeom>
          <a:solidFill>
            <a:srgbClr val="EEB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5504688" cy="143255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" y="1764792"/>
            <a:ext cx="32004" cy="1011935"/>
          </a:xfrm>
          <a:prstGeom prst="rect">
            <a:avLst/>
          </a:prstGeom>
          <a:solidFill>
            <a:srgbClr val="52C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764792"/>
            <a:ext cx="4892040" cy="1011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900" b="0">
                <a:solidFill>
                  <a:srgbClr val="162C44"/>
                </a:solidFill>
                <a:latin typeface="Calibri"/>
              </a:defRPr>
            </a:pPr>
            <a:r>
              <a:t>Разработан проект сети трёх площадок: 112 сотрудников, 84 ПК, 99 подключений.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53912" y="1554480"/>
            <a:ext cx="5504688" cy="143255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18503" y="1764792"/>
            <a:ext cx="32004" cy="1011935"/>
          </a:xfrm>
          <a:prstGeom prst="rect">
            <a:avLst/>
          </a:prstGeom>
          <a:solidFill>
            <a:srgbClr val="52C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1383" y="1764792"/>
            <a:ext cx="4892040" cy="1011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900" b="0">
                <a:solidFill>
                  <a:srgbClr val="162C44"/>
                </a:solidFill>
                <a:latin typeface="Calibri"/>
              </a:defRPr>
            </a:pPr>
            <a:r>
              <a:t>Рассчитаны пиковая нагрузка, кабельные трассы и предварительная смета.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33343"/>
            <a:ext cx="5504688" cy="143255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" y="3343655"/>
            <a:ext cx="32004" cy="1011935"/>
          </a:xfrm>
          <a:prstGeom prst="rect">
            <a:avLst/>
          </a:prstGeom>
          <a:solidFill>
            <a:srgbClr val="52C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343655"/>
            <a:ext cx="4892040" cy="1011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900" b="0">
                <a:solidFill>
                  <a:srgbClr val="162C44"/>
                </a:solidFill>
                <a:latin typeface="Calibri"/>
              </a:defRPr>
            </a:pPr>
            <a:r>
              <a:t>Согласованы этажная маршрутизация, гостевые сегменты и серверные службы.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3912" y="3133343"/>
            <a:ext cx="5504688" cy="143255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18503" y="3343655"/>
            <a:ext cx="32004" cy="1011935"/>
          </a:xfrm>
          <a:prstGeom prst="rect">
            <a:avLst/>
          </a:prstGeom>
          <a:solidFill>
            <a:srgbClr val="52C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1383" y="3343655"/>
            <a:ext cx="4892040" cy="1011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900" b="0">
                <a:solidFill>
                  <a:srgbClr val="162C44"/>
                </a:solidFill>
                <a:latin typeface="Calibri"/>
              </a:defRPr>
            </a:pPr>
            <a:r>
              <a:t>В модели проверены связь между площадками, серверные службы и гостевая изоляция.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712207"/>
            <a:ext cx="5504688" cy="143255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" y="4922520"/>
            <a:ext cx="32004" cy="1011935"/>
          </a:xfrm>
          <a:prstGeom prst="rect">
            <a:avLst/>
          </a:prstGeom>
          <a:solidFill>
            <a:srgbClr val="52C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4922520"/>
            <a:ext cx="4892040" cy="1011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900" b="0">
                <a:solidFill>
                  <a:srgbClr val="162C44"/>
                </a:solidFill>
                <a:latin typeface="Calibri"/>
              </a:defRPr>
            </a:pPr>
            <a:r>
              <a:t>Ориентировочная стоимость оборудования и кабельных материалов: 9 061 750 ₽.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162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51967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AFC3D3"/>
                </a:solidFill>
                <a:latin typeface="Calibri"/>
              </a:defRPr>
            </a:pPr>
            <a:r>
              <a:t>ГОРОДСКАЯ ПОЛИКЛИНИКА  /  ВАРИАНТ 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91088" y="6492240"/>
            <a:ext cx="640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EEBD58"/>
                </a:solidFill>
                <a:latin typeface="Calibri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